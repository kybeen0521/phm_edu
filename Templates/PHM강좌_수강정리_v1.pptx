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6"/>
  </p:notesMasterIdLst>
  <p:sldIdLst>
    <p:sldId id="301" r:id="rId2"/>
    <p:sldId id="302" r:id="rId3"/>
    <p:sldId id="303" r:id="rId4"/>
    <p:sldId id="304" r:id="rId5"/>
    <p:sldId id="305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319" r:id="rId20"/>
    <p:sldId id="320" r:id="rId21"/>
    <p:sldId id="321" r:id="rId22"/>
    <p:sldId id="322" r:id="rId23"/>
    <p:sldId id="323" r:id="rId24"/>
    <p:sldId id="324" r:id="rId25"/>
  </p:sldIdLst>
  <p:sldSz cx="9144000" cy="6858000" type="screen4x3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9">
          <p15:clr>
            <a:srgbClr val="A4A3A4"/>
          </p15:clr>
        </p15:guide>
        <p15:guide id="2" pos="287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보통 스타일 4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80" autoAdjust="0"/>
    <p:restoredTop sz="86434" autoAdjust="0"/>
  </p:normalViewPr>
  <p:slideViewPr>
    <p:cSldViewPr snapToGrid="0">
      <p:cViewPr varScale="1">
        <p:scale>
          <a:sx n="165" d="100"/>
          <a:sy n="165" d="100"/>
        </p:scale>
        <p:origin x="4212" y="162"/>
      </p:cViewPr>
      <p:guideLst>
        <p:guide orient="horz" pos="2149"/>
        <p:guide pos="287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12" d="100"/>
          <a:sy n="112" d="100"/>
        </p:scale>
        <p:origin x="456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r">
              <a:defRPr sz="1300"/>
            </a:lvl1pPr>
          </a:lstStyle>
          <a:p>
            <a:pPr lvl="0">
              <a:defRPr/>
            </a:pPr>
            <a:fld id="{F60DB9E1-F724-4AEF-94F3-979F419CD24E}" type="datetime1">
              <a:rPr lang="ko-KR" altLang="en-US"/>
              <a:pPr lvl="0">
                <a:defRPr/>
              </a:pPr>
              <a:t>2026-08-24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7" rIns="99075" bIns="49537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7" rIns="99075" bIns="49537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r">
              <a:defRPr sz="1300"/>
            </a:lvl1pPr>
          </a:lstStyle>
          <a:p>
            <a:pPr lvl="0">
              <a:defRPr/>
            </a:pPr>
            <a:fld id="{2EB2E323-9633-421C-861B-0355BBDFA3A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4">
            <a:extLst>
              <a:ext uri="{FF2B5EF4-FFF2-40B4-BE49-F238E27FC236}">
                <a16:creationId xmlns:a16="http://schemas.microsoft.com/office/drawing/2014/main" id="{D03D4E91-BEC6-44D9-900C-8AF738C79081}"/>
              </a:ext>
            </a:extLst>
          </p:cNvPr>
          <p:cNvSpPr/>
          <p:nvPr userDrawn="1"/>
        </p:nvSpPr>
        <p:spPr>
          <a:xfrm>
            <a:off x="0" y="1412776"/>
            <a:ext cx="9144000" cy="217201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0"/>
                </a:schemeClr>
              </a:gs>
              <a:gs pos="23000">
                <a:schemeClr val="accent1">
                  <a:lumMod val="50000"/>
                </a:schemeClr>
              </a:gs>
              <a:gs pos="69000">
                <a:srgbClr val="17283D"/>
              </a:gs>
              <a:gs pos="97000">
                <a:srgbClr val="17283D"/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맑은 고딕" panose="020B0503020000020004" pitchFamily="50" charset="-127"/>
              <a:cs typeface="Tahoma" panose="020B0604030504040204" pitchFamily="34" charset="0"/>
            </a:endParaRPr>
          </a:p>
        </p:txBody>
      </p:sp>
      <p:pic>
        <p:nvPicPr>
          <p:cNvPr id="10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DAA6CB98-94E8-478E-99C2-617C47AABB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85" y="100118"/>
            <a:ext cx="1719836" cy="44478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C8E02F-59C6-40C5-8DAE-72AAAFAF02C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882275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1181745" y="150543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33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181745" y="2241205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1" name="TextBox 130"/>
          <p:cNvSpPr txBox="1"/>
          <p:nvPr userDrawn="1"/>
        </p:nvSpPr>
        <p:spPr>
          <a:xfrm>
            <a:off x="278265" y="731670"/>
            <a:ext cx="4584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 latinLnBrk="0"/>
            <a:r>
              <a:rPr kumimoji="1" lang="en-US" altLang="ja-JP" sz="3600" b="1" spc="0" baseline="0" dirty="0">
                <a:ln w="3175">
                  <a:solidFill>
                    <a:srgbClr val="12315D">
                      <a:alpha val="5000"/>
                    </a:srgbClr>
                  </a:solidFill>
                </a:ln>
                <a:solidFill>
                  <a:srgbClr val="12315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kumimoji="1" lang="ja-JP" altLang="en-US" sz="3600" b="1" spc="0" baseline="0" dirty="0">
              <a:ln w="3175">
                <a:solidFill>
                  <a:srgbClr val="12315D">
                    <a:alpha val="5000"/>
                  </a:srgbClr>
                </a:solidFill>
              </a:ln>
              <a:solidFill>
                <a:srgbClr val="12315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0323818-3619-4336-AB8D-25B1610156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81745" y="298078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8579CE04-80D7-4A9E-B17A-0D8B624B23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81745" y="3720357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EF7005EF-DC99-44C9-8303-FFC6795F79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81745" y="4459933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170459E-E6FA-4C30-94F2-6AA5438BA5D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1745" y="5199509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3606C71-B61E-4CA0-ABA1-0408A8237E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81745" y="5939214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FEFE06C6-DEE9-46D1-8775-D05E0761211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2A932C-DBC5-4F28-A20D-4F7D76F4CE5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628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/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8BED7173-7695-4303-A560-F701E1DE7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EC4A03-490B-47F5-8F94-380D22EC636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098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DA71D4F8-A6AD-458D-85F0-898D8FB5CE66}"/>
              </a:ext>
            </a:extLst>
          </p:cNvPr>
          <p:cNvCxnSpPr>
            <a:cxnSpLocks/>
          </p:cNvCxnSpPr>
          <p:nvPr userDrawn="1"/>
        </p:nvCxnSpPr>
        <p:spPr>
          <a:xfrm>
            <a:off x="88900" y="6298221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220F0B2B-477D-4C80-B9CF-6807E6F6C31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900" y="6323422"/>
            <a:ext cx="8966200" cy="292350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F8429D-6A22-4925-B5A5-A60A9AFB428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1D741112-8894-493D-953A-6340D38244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80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B9CA2239-16EF-4189-AE07-999A04A0330D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5C5F1908-F10D-45B7-8929-69D6E8DB647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FAB4A27-A355-4506-A1F0-E55B692A459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354506CD-D0A2-4CD8-AF48-C1B8B4954D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205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37337A45-EED2-4B71-8497-9F87BDE38989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0C0C7261-919A-4E82-8767-BD1DD82C6A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4D4D96B-23C3-45C2-85A1-A1654276A9E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FDB145D3-0263-409E-B076-B5C2843172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785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6498842-A507-41AB-B4C7-7D63BADD1773}"/>
              </a:ext>
            </a:extLst>
          </p:cNvPr>
          <p:cNvSpPr/>
          <p:nvPr userDrawn="1"/>
        </p:nvSpPr>
        <p:spPr>
          <a:xfrm>
            <a:off x="0" y="30093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4DF706-D1E1-47A9-921B-B1F5B1E80E77}"/>
              </a:ext>
            </a:extLst>
          </p:cNvPr>
          <p:cNvSpPr/>
          <p:nvPr userDrawn="1"/>
        </p:nvSpPr>
        <p:spPr>
          <a:xfrm>
            <a:off x="0" y="6637747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002B941-4A73-4B97-9415-56F302F9AC0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07535" y="494904"/>
            <a:ext cx="4561840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8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567BC81-3D62-4357-BAF5-C6126FB4D32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A33537-9888-4C5A-9280-BCC4F7E6F8C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13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B80D6E9-4CFF-4046-BC84-AFD4DFA7EB3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92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813686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6776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DFD6DECE-B637-4BCA-832F-444AC5238594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912D980A-3F19-40EF-A1DE-A4189200464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Click to edit Master text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D9BA0FA-09F2-4DF3-88B8-6903571C4F2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F63186CF-F56B-402C-9EB5-545E9C4E8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176F92C4-E2F4-415F-8049-9864B816D65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CE0133-145F-44EC-B9BA-DD28230A05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132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904490A5-95A1-43B5-AE47-70210A4C8771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8622DBFE-A524-4BF2-A1EE-49E091356FE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DBF3BD8-07F3-4FA5-A058-7EAE9B0067A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74DEE620-EA0C-46D5-A798-522CA510DC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8F262F45-8ED5-4654-BF25-3EF203E0D7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5B0A1C-8972-409D-B5EB-A16A5A7D153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84960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A39D4B9-AD4C-4337-A231-B4AA65651C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253" b="12904"/>
          <a:stretch/>
        </p:blipFill>
        <p:spPr>
          <a:xfrm>
            <a:off x="4292231" y="3505333"/>
            <a:ext cx="4851769" cy="336012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CA3FBB9-B80E-454A-9AF7-616E8380A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38206" b="12904"/>
          <a:stretch/>
        </p:blipFill>
        <p:spPr>
          <a:xfrm>
            <a:off x="0" y="0"/>
            <a:ext cx="3232557" cy="3360122"/>
          </a:xfrm>
          <a:prstGeom prst="rect">
            <a:avLst/>
          </a:prstGeom>
        </p:spPr>
      </p:pic>
      <p:sp>
        <p:nvSpPr>
          <p:cNvPr id="23" name="평행 사변형 22">
            <a:extLst>
              <a:ext uri="{FF2B5EF4-FFF2-40B4-BE49-F238E27FC236}">
                <a16:creationId xmlns:a16="http://schemas.microsoft.com/office/drawing/2014/main" id="{8E99BB3F-89FC-4186-9580-57B2BD331EDF}"/>
              </a:ext>
            </a:extLst>
          </p:cNvPr>
          <p:cNvSpPr/>
          <p:nvPr userDrawn="1"/>
        </p:nvSpPr>
        <p:spPr>
          <a:xfrm>
            <a:off x="1460500" y="3464560"/>
            <a:ext cx="7273925" cy="3401431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평행 사변형 23">
            <a:extLst>
              <a:ext uri="{FF2B5EF4-FFF2-40B4-BE49-F238E27FC236}">
                <a16:creationId xmlns:a16="http://schemas.microsoft.com/office/drawing/2014/main" id="{F0E60A63-B814-443B-A086-DF3C034A35B6}"/>
              </a:ext>
            </a:extLst>
          </p:cNvPr>
          <p:cNvSpPr/>
          <p:nvPr userDrawn="1"/>
        </p:nvSpPr>
        <p:spPr>
          <a:xfrm>
            <a:off x="488950" y="2706"/>
            <a:ext cx="5938520" cy="3360122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33DA29-532F-4F24-94B8-D9B6E6FA28EA}"/>
              </a:ext>
            </a:extLst>
          </p:cNvPr>
          <p:cNvSpPr txBox="1"/>
          <p:nvPr userDrawn="1"/>
        </p:nvSpPr>
        <p:spPr>
          <a:xfrm>
            <a:off x="0" y="2705856"/>
            <a:ext cx="9144000" cy="144655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 defTabSz="457200" latinLnBrk="0"/>
            <a:r>
              <a:rPr lang="en-US" altLang="ko-KR" sz="8800" b="1" kern="0" spc="-38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Thank you</a:t>
            </a:r>
            <a:endParaRPr lang="ko-KR" altLang="en-US" sz="8000" b="1" dirty="0">
              <a:solidFill>
                <a:schemeClr val="tx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A2378C-6F1A-445B-8D70-DCF842B7F21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43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모서리가 둥근 직사각형 13"/>
          <p:cNvSpPr/>
          <p:nvPr userDrawn="1"/>
        </p:nvSpPr>
        <p:spPr>
          <a:xfrm>
            <a:off x="2577935" y="346074"/>
            <a:ext cx="4342402" cy="564997"/>
          </a:xfrm>
          <a:custGeom>
            <a:avLst/>
            <a:gdLst>
              <a:gd name="connsiteX0" fmla="*/ 0 w 3733966"/>
              <a:gd name="connsiteY0" fmla="*/ 94168 h 564997"/>
              <a:gd name="connsiteX1" fmla="*/ 94168 w 3733966"/>
              <a:gd name="connsiteY1" fmla="*/ 0 h 564997"/>
              <a:gd name="connsiteX2" fmla="*/ 3639798 w 3733966"/>
              <a:gd name="connsiteY2" fmla="*/ 0 h 564997"/>
              <a:gd name="connsiteX3" fmla="*/ 3733966 w 3733966"/>
              <a:gd name="connsiteY3" fmla="*/ 94168 h 564997"/>
              <a:gd name="connsiteX4" fmla="*/ 3733966 w 3733966"/>
              <a:gd name="connsiteY4" fmla="*/ 470829 h 564997"/>
              <a:gd name="connsiteX5" fmla="*/ 3639798 w 3733966"/>
              <a:gd name="connsiteY5" fmla="*/ 564997 h 564997"/>
              <a:gd name="connsiteX6" fmla="*/ 94168 w 3733966"/>
              <a:gd name="connsiteY6" fmla="*/ 564997 h 564997"/>
              <a:gd name="connsiteX7" fmla="*/ 0 w 3733966"/>
              <a:gd name="connsiteY7" fmla="*/ 470829 h 564997"/>
              <a:gd name="connsiteX8" fmla="*/ 0 w 3733966"/>
              <a:gd name="connsiteY8" fmla="*/ 94168 h 564997"/>
              <a:gd name="connsiteX0" fmla="*/ 0 w 4127666"/>
              <a:gd name="connsiteY0" fmla="*/ 94168 h 564997"/>
              <a:gd name="connsiteX1" fmla="*/ 94168 w 4127666"/>
              <a:gd name="connsiteY1" fmla="*/ 0 h 564997"/>
              <a:gd name="connsiteX2" fmla="*/ 3639798 w 4127666"/>
              <a:gd name="connsiteY2" fmla="*/ 0 h 564997"/>
              <a:gd name="connsiteX3" fmla="*/ 3733966 w 4127666"/>
              <a:gd name="connsiteY3" fmla="*/ 94168 h 564997"/>
              <a:gd name="connsiteX4" fmla="*/ 4127666 w 4127666"/>
              <a:gd name="connsiteY4" fmla="*/ 381929 h 564997"/>
              <a:gd name="connsiteX5" fmla="*/ 3639798 w 4127666"/>
              <a:gd name="connsiteY5" fmla="*/ 564997 h 564997"/>
              <a:gd name="connsiteX6" fmla="*/ 94168 w 4127666"/>
              <a:gd name="connsiteY6" fmla="*/ 564997 h 564997"/>
              <a:gd name="connsiteX7" fmla="*/ 0 w 4127666"/>
              <a:gd name="connsiteY7" fmla="*/ 470829 h 564997"/>
              <a:gd name="connsiteX8" fmla="*/ 0 w 4127666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733966 w 4308014"/>
              <a:gd name="connsiteY3" fmla="*/ 941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53819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2402" h="564997">
                <a:moveTo>
                  <a:pt x="0" y="94168"/>
                </a:moveTo>
                <a:cubicBezTo>
                  <a:pt x="0" y="42160"/>
                  <a:pt x="42160" y="0"/>
                  <a:pt x="94168" y="0"/>
                </a:cubicBezTo>
                <a:lnTo>
                  <a:pt x="3284198" y="0"/>
                </a:lnTo>
                <a:cubicBezTo>
                  <a:pt x="3494956" y="0"/>
                  <a:pt x="3683166" y="73910"/>
                  <a:pt x="3759366" y="132268"/>
                </a:cubicBezTo>
                <a:cubicBezTo>
                  <a:pt x="3930816" y="257822"/>
                  <a:pt x="4045116" y="377025"/>
                  <a:pt x="4127666" y="381929"/>
                </a:cubicBezTo>
                <a:cubicBezTo>
                  <a:pt x="4407066" y="383137"/>
                  <a:pt x="4352206" y="564997"/>
                  <a:pt x="4300198" y="564997"/>
                </a:cubicBezTo>
                <a:lnTo>
                  <a:pt x="94168" y="564997"/>
                </a:lnTo>
                <a:cubicBezTo>
                  <a:pt x="42160" y="564997"/>
                  <a:pt x="0" y="522837"/>
                  <a:pt x="0" y="470829"/>
                </a:cubicBezTo>
                <a:lnTo>
                  <a:pt x="0" y="94168"/>
                </a:lnTo>
                <a:close/>
              </a:path>
            </a:pathLst>
          </a:custGeom>
          <a:solidFill>
            <a:schemeClr val="bg1">
              <a:alpha val="61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latinLnBrk="0"/>
            <a:endParaRPr kumimoji="1" lang="ko-KR" altLang="en-US">
              <a:solidFill>
                <a:prstClr val="white"/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-1" y="-27384"/>
            <a:ext cx="7538721" cy="6530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Mater title style</a:t>
            </a:r>
            <a:endParaRPr kumimoji="1" lang="ja-JP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71217"/>
            <a:ext cx="8229600" cy="50549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1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2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3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4"/>
            <a:r>
              <a:rPr kumimoji="1" lang="en-US" altLang="ko-KR" dirty="0"/>
              <a:t>Edit</a:t>
            </a:r>
            <a:endParaRPr kumimoji="1" lang="ja-JP" altLang="en-US" dirty="0"/>
          </a:p>
        </p:txBody>
      </p:sp>
      <p:sp>
        <p:nvSpPr>
          <p:cNvPr id="38" name="TextBox 37"/>
          <p:cNvSpPr txBox="1"/>
          <p:nvPr userDrawn="1"/>
        </p:nvSpPr>
        <p:spPr>
          <a:xfrm>
            <a:off x="11870" y="-166183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 latinLnBrk="0"/>
            <a:endParaRPr kumimoji="1" lang="ja-JP" altLang="en-US" dirty="0">
              <a:solidFill>
                <a:prstClr val="black"/>
              </a:solidFill>
            </a:endParaRPr>
          </a:p>
        </p:txBody>
      </p:sp>
      <p:sp>
        <p:nvSpPr>
          <p:cNvPr id="2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85505" y="6571751"/>
            <a:ext cx="1458495" cy="2862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1" lang="en-US" altLang="ko-KR" sz="1200" b="1" i="0" kern="1200" smtClean="0">
                <a:ln w="3175">
                  <a:solidFill>
                    <a:prstClr val="black">
                      <a:alpha val="4000"/>
                    </a:prst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Malgun Gothic"/>
              </a:defRPr>
            </a:lvl1pPr>
          </a:lstStyle>
          <a:p>
            <a:pPr defTabSz="457200" latinLnBrk="0"/>
            <a:fld id="{27655F23-C921-6945-88A6-CC79264B7678}" type="slidenum">
              <a:rPr lang="en-US" altLang="ko-KR" smtClean="0"/>
              <a:pPr defTabSz="457200" latinLnBrk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29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673" r:id="rId2"/>
    <p:sldLayoutId id="2147483703" r:id="rId3"/>
    <p:sldLayoutId id="2147483710" r:id="rId4"/>
    <p:sldLayoutId id="2147483711" r:id="rId5"/>
    <p:sldLayoutId id="2147483712" r:id="rId6"/>
    <p:sldLayoutId id="2147483702" r:id="rId7"/>
    <p:sldLayoutId id="2147483675" r:id="rId8"/>
    <p:sldLayoutId id="2147483715" r:id="rId9"/>
    <p:sldLayoutId id="2147483713" r:id="rId10"/>
    <p:sldLayoutId id="2147483714" r:id="rId11"/>
    <p:sldLayoutId id="2147483701" r:id="rId12"/>
  </p:sldLayoutIdLst>
  <p:hf hdr="0" ftr="0" dt="0"/>
  <p:txStyles>
    <p:titleStyle>
      <a:lvl1pPr algn="l" defTabSz="457200" rtl="0" eaLnBrk="1" latinLnBrk="1" hangingPunct="1">
        <a:spcBef>
          <a:spcPct val="0"/>
        </a:spcBef>
        <a:buNone/>
        <a:defRPr kumimoji="1" sz="2800" b="1" kern="1200" spc="0" baseline="0">
          <a:ln w="3175">
            <a:solidFill>
              <a:srgbClr val="12315D">
                <a:alpha val="14000"/>
              </a:srgbClr>
            </a:solidFill>
          </a:ln>
          <a:solidFill>
            <a:schemeClr val="tx1">
              <a:lumMod val="95000"/>
              <a:lumOff val="5000"/>
            </a:schemeClr>
          </a:solidFill>
          <a:latin typeface="Times New Roman" panose="02020603050405020304" pitchFamily="18" charset="0"/>
          <a:ea typeface="맑은 고딕" pitchFamily="50" charset="-127"/>
          <a:cs typeface="Times New Roman" panose="02020603050405020304" pitchFamily="18" charset="0"/>
        </a:defRPr>
      </a:lvl1pPr>
    </p:titleStyle>
    <p:bodyStyle>
      <a:lvl1pPr marL="342900" indent="-342900" algn="l" defTabSz="457200" rtl="0" eaLnBrk="1" latinLnBrk="1" hangingPunct="1">
        <a:lnSpc>
          <a:spcPct val="100000"/>
        </a:lnSpc>
        <a:spcBef>
          <a:spcPts val="600"/>
        </a:spcBef>
        <a:buClr>
          <a:srgbClr val="12315D"/>
        </a:buClr>
        <a:buSzPct val="100000"/>
        <a:buFont typeface="Wingdings" charset="2"/>
        <a:buChar char=""/>
        <a:defRPr kumimoji="1" sz="1600" b="1" kern="1200" spc="0" baseline="0">
          <a:ln w="3175">
            <a:solidFill>
              <a:schemeClr val="tx1">
                <a:alpha val="7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540000" indent="-285750" algn="l" defTabSz="457200" rtl="0" eaLnBrk="1" latinLnBrk="1" hangingPunct="1">
        <a:lnSpc>
          <a:spcPct val="100000"/>
        </a:lnSpc>
        <a:spcBef>
          <a:spcPts val="600"/>
        </a:spcBef>
        <a:buClr>
          <a:srgbClr val="3C3C3B"/>
        </a:buClr>
        <a:buFont typeface="Arial"/>
        <a:buChar char="❍"/>
        <a:defRPr kumimoji="1" sz="14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7488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AppleGothic"/>
        <a:buChar char="▹"/>
        <a:defRPr kumimoji="1" sz="1200" kern="1200" spc="0" baseline="0">
          <a:ln w="3175">
            <a:solidFill>
              <a:schemeClr val="tx1">
                <a:alpha val="5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990000" indent="-228600" algn="l" defTabSz="457200" rtl="0" eaLnBrk="1" latinLnBrk="1" hangingPunct="1">
        <a:lnSpc>
          <a:spcPct val="100000"/>
        </a:lnSpc>
        <a:spcBef>
          <a:spcPts val="600"/>
        </a:spcBef>
        <a:buFont typeface="Arial"/>
        <a:buChar char="▪"/>
        <a:defRPr kumimoji="1" sz="1200" kern="1200" spc="0" baseline="0">
          <a:ln w="3175">
            <a:solidFill>
              <a:schemeClr val="tx1">
                <a:alpha val="9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12312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Wingdings" charset="2"/>
        <a:buChar char="⁃"/>
        <a:defRPr kumimoji="1" sz="12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/>
          <p:cNvSpPr txBox="1"/>
          <p:nvPr/>
        </p:nvSpPr>
        <p:spPr>
          <a:xfrm>
            <a:off x="5080" y="1408090"/>
            <a:ext cx="9138920" cy="2172237"/>
          </a:xfrm>
          <a:prstGeom prst="rect">
            <a:avLst/>
          </a:prstGeom>
        </p:spPr>
        <p:txBody>
          <a:bodyPr anchor="ctr"/>
          <a:lstStyle>
            <a:lvl1pPr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4000" b="1" kern="1200" dirty="0">
                <a:solidFill>
                  <a:schemeClr val="bg1"/>
                </a:solidFill>
                <a:latin typeface="Times New Roman"/>
                <a:ea typeface="+mn-ea"/>
                <a:cs typeface="Times New Roman"/>
              </a:defRPr>
            </a:lvl1pPr>
          </a:lstStyle>
          <a:p>
            <a:pPr algn="ctr"/>
            <a:r>
              <a:rPr lang="ko-KR" altLang="en-US" sz="2800" b="1" dirty="0">
                <a:latin typeface="+mn-ea"/>
                <a:ea typeface="+mn-ea"/>
                <a:cs typeface="+mn-ea"/>
              </a:rPr>
              <a:t>제16회 </a:t>
            </a:r>
            <a:r>
              <a:rPr lang="en-US" altLang="ko-KR" sz="2800" b="1" dirty="0">
                <a:latin typeface="Times New Roman"/>
                <a:ea typeface="+mn-ea"/>
                <a:cs typeface="Times New Roman"/>
              </a:rPr>
              <a:t>PHM </a:t>
            </a:r>
            <a:r>
              <a:rPr lang="ko-KR" altLang="en-US" sz="2800" b="1" dirty="0">
                <a:latin typeface="+mn-ea"/>
                <a:ea typeface="+mn-ea"/>
                <a:cs typeface="+mn-ea"/>
              </a:rPr>
              <a:t>리더양성을 위한 전문기술 강좌</a:t>
            </a:r>
            <a:br>
              <a:rPr lang="ko-KR" altLang="en-US" sz="2800" b="1" dirty="0">
                <a:latin typeface="Times New Roman"/>
                <a:ea typeface="+mn-ea"/>
                <a:cs typeface="Times New Roman"/>
              </a:rPr>
            </a:br>
            <a:r>
              <a:rPr lang="ko-KR" altLang="en-US" sz="2400" b="1" dirty="0">
                <a:latin typeface="+mn-ea"/>
                <a:ea typeface="+mn-ea"/>
                <a:cs typeface="+mn-ea"/>
              </a:rPr>
              <a:t>수강 정리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5080" y="3636161"/>
            <a:ext cx="914400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latinLnBrk="0">
              <a:defRPr/>
            </a:pPr>
            <a:r>
              <a:rPr lang="ko-KR" altLang="en-US" sz="20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한국전자기술연구원</a:t>
            </a:r>
            <a:endParaRPr lang="ko-KR" altLang="en-US" sz="2000" b="1" kern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80" y="6275386"/>
            <a:ext cx="914400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차세대동력시스템연구센터</a:t>
            </a:r>
          </a:p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ea"/>
              </a:rPr>
              <a:t>김용빈 연구원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-1" y="3577488"/>
            <a:ext cx="914400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latinLnBrk="0">
              <a:defRPr/>
            </a:pPr>
            <a:r>
              <a:rPr lang="en-US" altLang="ko-KR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Times New Roman"/>
                <a:ea typeface="+mn-ea"/>
                <a:cs typeface="Times New Roman"/>
              </a:rPr>
              <a:t>2026.08.18 ~ 20</a:t>
            </a:r>
            <a:endParaRPr lang="en-US" altLang="ko-KR" sz="1600" b="1" kern="0" dirty="0">
              <a:ln w="13500">
                <a:solidFill>
                  <a:srgbClr val="4F81BD">
                    <a:shade val="2500"/>
                    <a:alpha val="0"/>
                  </a:srgbClr>
                </a:solidFill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/>
              <a:ea typeface="KoPub돋움체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>
                <a:latin typeface="Times New Roman"/>
                <a:ea typeface="+mn-ea"/>
                <a:cs typeface="Times New Roman"/>
              </a:rPr>
              <a:t>PHM and FMEA for physical AI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en-US" altLang="ko-KR" sz="200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sz="2000">
                <a:latin typeface="+mn-ea"/>
                <a:ea typeface="+mn-ea"/>
                <a:cs typeface="+mn-ea"/>
              </a:rPr>
              <a:t>가 </a:t>
            </a:r>
            <a:r>
              <a:rPr lang="en-US" altLang="ko-KR" sz="200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sz="2000">
                <a:latin typeface="+mn-ea"/>
                <a:ea typeface="+mn-ea"/>
                <a:cs typeface="+mn-ea"/>
              </a:rPr>
              <a:t>을 필요로 하는 이유 (10:00~11:00)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닫힌 루프로 물리 세계와 상호작용한다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목표 → 계획 → 인식 → 행동 생성 → 동작 → 피드백 순으로 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루프가 돌기 때문에 고장이 연쇄 전파된다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충돌·낙상·임무</a:t>
            </a:r>
            <a:r>
              <a:rPr lang="ko-KR" altLang="en-US" dirty="0">
                <a:latin typeface="+mn-ea"/>
                <a:ea typeface="+mn-ea"/>
                <a:cs typeface="+mn-ea"/>
              </a:rPr>
              <a:t> 실패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고장 이후에도 기능을 유지하거나 회복하는 능력이다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버티는 것이 아니라 상태를 인식하고 행동을 바꾸는 것이다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상태 인식 →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재계획</a:t>
            </a:r>
            <a:r>
              <a:rPr lang="ko-KR" altLang="en-US" dirty="0">
                <a:latin typeface="+mn-ea"/>
                <a:ea typeface="+mn-ea"/>
                <a:cs typeface="+mn-ea"/>
              </a:rPr>
              <a:t> → 복구가 다시 하나의 폐루프를 이룬다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+mn-ea"/>
                <a:ea typeface="+mn-ea"/>
                <a:cs typeface="+mn-ea"/>
              </a:rPr>
              <a:t>=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이 상태를 알려주고,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resilience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그 정보로 행동을 바꾼다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Sim2real -</a:t>
            </a:r>
            <a:r>
              <a:rPr lang="ko-KR" altLang="en-US" dirty="0">
                <a:latin typeface="+mn-ea"/>
                <a:ea typeface="+mn-ea"/>
                <a:cs typeface="+mn-ea"/>
              </a:rPr>
              <a:t> 가상에서 학습하고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domain adaptation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실환경에 옮긴다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00D380E4-A2AE-DE5F-AB0D-A599DD4385D7}"/>
              </a:ext>
            </a:extLst>
          </p:cNvPr>
          <p:cNvSpPr txBox="1">
            <a:spLocks/>
          </p:cNvSpPr>
          <p:nvPr/>
        </p:nvSpPr>
        <p:spPr>
          <a:xfrm>
            <a:off x="173979" y="6131529"/>
            <a:ext cx="8533292" cy="4297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00000"/>
              <a:buFont typeface="Wingdings" charset="2"/>
              <a:buNone/>
              <a:defRPr kumimoji="1" sz="2000" b="1" kern="1200" spc="0" baseline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3C3C3B"/>
              </a:buClr>
              <a:buFont typeface="Arial"/>
              <a:buNone/>
              <a:defRPr kumimoji="1" sz="20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AppleGothic"/>
              <a:buNone/>
              <a:defRPr kumimoji="1" sz="1800" b="1" kern="1200" spc="0" baseline="0">
                <a:ln w="3175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Font typeface="Arial"/>
              <a:buNone/>
              <a:defRPr kumimoji="1" sz="1600" b="1" kern="1200" spc="0" baseline="0">
                <a:ln w="3175">
                  <a:solidFill>
                    <a:schemeClr val="tx1">
                      <a:alpha val="9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Wingdings" charset="2"/>
              <a:buNone/>
              <a:defRPr kumimoji="1" sz="16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1000" dirty="0">
                <a:latin typeface="Times New Roman"/>
                <a:cs typeface="Times New Roman"/>
              </a:rPr>
              <a:t>* PHM(Prognostics and Health Management): </a:t>
            </a:r>
            <a:r>
              <a:rPr lang="ko-KR" altLang="en-US" sz="1000" dirty="0">
                <a:latin typeface="Times New Roman"/>
                <a:cs typeface="Times New Roman"/>
              </a:rPr>
              <a:t>시스템이나 장비를 분석하여 고장을 미리 예측하고 유지보수를 수행하는 고장 예지 및 건전성 관리 기술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PHM and FMEA for physical AI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RPN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으로 진단 우선순위 정하기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366595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FMEA</a:t>
            </a:r>
            <a:r>
              <a:rPr lang="en-US" altLang="ko-KR" dirty="0">
                <a:latin typeface="+mn-ea"/>
                <a:cs typeface="+mn-ea"/>
              </a:rPr>
              <a:t>(</a:t>
            </a:r>
            <a:r>
              <a:rPr lang="ko-KR" altLang="en-US" dirty="0">
                <a:latin typeface="+mn-ea"/>
                <a:cs typeface="+mn-ea"/>
              </a:rPr>
              <a:t>고장분석모드</a:t>
            </a:r>
            <a:r>
              <a:rPr lang="en-US" altLang="ko-KR" dirty="0">
                <a:latin typeface="+mn-ea"/>
                <a:cs typeface="+mn-ea"/>
              </a:rPr>
              <a:t>)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S(Severity)·O(Occurrence)·D(Detection) </a:t>
            </a:r>
            <a:r>
              <a:rPr lang="ko-KR" altLang="en-US" dirty="0">
                <a:latin typeface="+mn-ea"/>
                <a:ea typeface="+mn-ea"/>
                <a:cs typeface="+mn-ea"/>
              </a:rPr>
              <a:t>세 축으로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점수화하여</a:t>
            </a:r>
            <a:r>
              <a:rPr lang="ko-KR" altLang="en-US" dirty="0">
                <a:latin typeface="+mn-ea"/>
                <a:ea typeface="+mn-ea"/>
                <a:cs typeface="+mn-ea"/>
              </a:rPr>
              <a:t>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RPN = S × O × D,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값이 큰 항목이 진단 우선순위가 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Detection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역방향 척도다. 9~10점이 탐지 불가다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Physical AI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통합 시스템이라 고장 원인을 직관적으로 추적할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넘어짐 하나에도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모터·센서·배터리·인지</a:t>
            </a:r>
            <a:r>
              <a:rPr lang="ko-KR" altLang="en-US" dirty="0">
                <a:latin typeface="+mn-ea"/>
                <a:ea typeface="+mn-ea"/>
                <a:cs typeface="+mn-ea"/>
              </a:rPr>
              <a:t> 문제가 모두 후보다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휴머노이드를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지능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구동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컴퓨팅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ko-KR" altLang="en-US" dirty="0">
                <a:latin typeface="+mn-ea"/>
                <a:ea typeface="+mn-ea"/>
                <a:cs typeface="+mn-ea"/>
              </a:rPr>
              <a:t>에너지 네 계통으로 나누었을 때</a:t>
            </a:r>
            <a:r>
              <a:rPr lang="en-US" altLang="ko-KR" dirty="0">
                <a:latin typeface="+mn-ea"/>
                <a:ea typeface="+mn-ea"/>
                <a:cs typeface="+mn-ea"/>
              </a:rPr>
              <a:t>,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지능 → 구동 → </a:t>
            </a:r>
            <a:br>
              <a:rPr lang="en-US" altLang="ko-KR" dirty="0">
                <a:latin typeface="+mn-ea"/>
                <a:ea typeface="+mn-ea"/>
                <a:cs typeface="+mn-ea"/>
              </a:rPr>
            </a:br>
            <a:r>
              <a:rPr lang="ko-KR" altLang="en-US" dirty="0">
                <a:latin typeface="+mn-ea"/>
                <a:ea typeface="+mn-ea"/>
                <a:cs typeface="+mn-ea"/>
              </a:rPr>
              <a:t>컴퓨팅 → 에너지 순으로 </a:t>
            </a:r>
            <a:r>
              <a:rPr lang="en-US" altLang="ko-KR" dirty="0"/>
              <a:t>RPN</a:t>
            </a:r>
            <a:r>
              <a:rPr lang="en-US" altLang="ko-KR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점수가 높았다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0" name="표 70"/>
          <p:cNvGraphicFramePr>
            <a:graphicFrameLocks noGrp="1"/>
          </p:cNvGraphicFramePr>
          <p:nvPr/>
        </p:nvGraphicFramePr>
        <p:xfrm>
          <a:off x="914400" y="3694176"/>
          <a:ext cx="7315200" cy="2331720"/>
        </p:xfrm>
        <a:graphic>
          <a:graphicData uri="http://schemas.openxmlformats.org/drawingml/2006/table">
            <a:tbl>
              <a:tblPr firstRow="1" firstCol="1" bandRow="1"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계통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대표 고장 모드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RPN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해결 방안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Intelligent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OOD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발생,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balance recovery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실패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315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도메인 무작위화, 멀티모달 교차 검증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Actuator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모터 과열·감속기 손상, 윤활유 열화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288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실시간 상태 진단,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RUL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예측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Onboard Computing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thermal throttling,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추론 지연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240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센서 기반 모니터링,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knowledge distillation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Energy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과충·과방전, 내부저항 증가, 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225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SOC/SOH 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추정, 열폭주 선제 조치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텍스트 개체 틀 2">
            <a:extLst>
              <a:ext uri="{FF2B5EF4-FFF2-40B4-BE49-F238E27FC236}">
                <a16:creationId xmlns:a16="http://schemas.microsoft.com/office/drawing/2014/main" id="{8B3F49E8-86E9-B514-E91E-4314889ACE90}"/>
              </a:ext>
            </a:extLst>
          </p:cNvPr>
          <p:cNvSpPr txBox="1">
            <a:spLocks/>
          </p:cNvSpPr>
          <p:nvPr/>
        </p:nvSpPr>
        <p:spPr>
          <a:xfrm>
            <a:off x="173979" y="6131529"/>
            <a:ext cx="8533292" cy="4297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00000"/>
              <a:buFont typeface="Wingdings" charset="2"/>
              <a:buNone/>
              <a:defRPr kumimoji="1" sz="2000" b="1" kern="1200" spc="0" baseline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3C3C3B"/>
              </a:buClr>
              <a:buFont typeface="Arial"/>
              <a:buNone/>
              <a:defRPr kumimoji="1" sz="20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AppleGothic"/>
              <a:buNone/>
              <a:defRPr kumimoji="1" sz="1800" b="1" kern="1200" spc="0" baseline="0">
                <a:ln w="3175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Font typeface="Arial"/>
              <a:buNone/>
              <a:defRPr kumimoji="1" sz="1600" b="1" kern="1200" spc="0" baseline="0">
                <a:ln w="3175">
                  <a:solidFill>
                    <a:schemeClr val="tx1">
                      <a:alpha val="9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800000"/>
              </a:buClr>
              <a:buFont typeface="Wingdings" charset="2"/>
              <a:buNone/>
              <a:defRPr kumimoji="1" sz="1600" b="1" kern="1200" spc="0" baseline="0">
                <a:ln w="3175">
                  <a:solidFill>
                    <a:schemeClr val="tx1">
                      <a:alpha val="8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1" hangingPunct="1">
              <a:spcBef>
                <a:spcPct val="20000"/>
              </a:spcBef>
              <a:buFont typeface="Arial"/>
              <a:buNone/>
              <a:defRPr kumimoji="1"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1000" dirty="0">
                <a:latin typeface="Times New Roman"/>
                <a:cs typeface="Times New Roman"/>
              </a:rPr>
              <a:t>* RPN:</a:t>
            </a:r>
            <a:r>
              <a:rPr lang="ko-KR" altLang="en-US" sz="1000" dirty="0">
                <a:latin typeface="Times New Roman"/>
                <a:cs typeface="Times New Roman"/>
              </a:rPr>
              <a:t> </a:t>
            </a:r>
            <a:r>
              <a:rPr lang="en-US" altLang="ko-KR" sz="1000" dirty="0">
                <a:latin typeface="Times New Roman"/>
                <a:cs typeface="Times New Roman"/>
              </a:rPr>
              <a:t>Risk Priority Number. </a:t>
            </a:r>
            <a:r>
              <a:rPr lang="ko-KR" altLang="en-US" sz="1000" dirty="0">
                <a:latin typeface="Times New Roman"/>
                <a:cs typeface="Times New Roman"/>
              </a:rPr>
              <a:t>제품이나</a:t>
            </a:r>
            <a:r>
              <a:rPr lang="en-US" altLang="ko-KR" sz="1000" dirty="0">
                <a:latin typeface="Times New Roman"/>
                <a:cs typeface="Times New Roman"/>
              </a:rPr>
              <a:t> </a:t>
            </a:r>
            <a:r>
              <a:rPr lang="ko-KR" altLang="en-US" sz="1000" dirty="0">
                <a:latin typeface="Times New Roman"/>
                <a:cs typeface="Times New Roman"/>
              </a:rPr>
              <a:t>공정에서 발생할 수 있는 고장이나 위험의 심각도</a:t>
            </a:r>
            <a:r>
              <a:rPr lang="en-US" altLang="ko-KR" sz="1000" dirty="0">
                <a:latin typeface="Times New Roman"/>
                <a:cs typeface="Times New Roman"/>
              </a:rPr>
              <a:t>, </a:t>
            </a:r>
            <a:r>
              <a:rPr lang="ko-KR" altLang="en-US" sz="1000" dirty="0">
                <a:latin typeface="Times New Roman"/>
                <a:cs typeface="Times New Roman"/>
              </a:rPr>
              <a:t>발생 빈도</a:t>
            </a:r>
            <a:r>
              <a:rPr lang="en-US" altLang="ko-KR" sz="1000" dirty="0">
                <a:latin typeface="Times New Roman"/>
                <a:cs typeface="Times New Roman"/>
              </a:rPr>
              <a:t>, </a:t>
            </a:r>
            <a:r>
              <a:rPr lang="ko-KR" altLang="en-US" sz="1000" dirty="0">
                <a:latin typeface="Times New Roman"/>
                <a:cs typeface="Times New Roman"/>
              </a:rPr>
              <a:t>검출 용이성을 곱해 계산한 수치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Agentic AI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기초와 공학 적용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MCP 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기반 </a:t>
            </a:r>
            <a:r>
              <a:rPr lang="en-US" altLang="ko-KR" sz="2000" dirty="0">
                <a:latin typeface="Times New Roman"/>
                <a:ea typeface="+mn-ea"/>
                <a:cs typeface="Times New Roman"/>
              </a:rPr>
              <a:t>FreeCAD FEM 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수행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6683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실습은 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claude</a:t>
            </a:r>
            <a:r>
              <a:rPr lang="ko-KR" altLang="en-US" dirty="0">
                <a:latin typeface="+mn-ea"/>
                <a:cs typeface="+mn-ea"/>
              </a:rPr>
              <a:t>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외팔보</a:t>
            </a:r>
            <a:r>
              <a:rPr lang="ko-KR" altLang="en-US" dirty="0">
                <a:latin typeface="+mn-ea"/>
                <a:ea typeface="+mn-ea"/>
                <a:cs typeface="+mn-ea"/>
              </a:rPr>
              <a:t> 해석을 지시하고 및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이론값과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agent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cs typeface="+mn-ea"/>
              </a:rPr>
              <a:t>산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출값을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비교했다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외팔보</a:t>
            </a:r>
            <a:r>
              <a:rPr lang="ko-KR" altLang="en-US" dirty="0">
                <a:latin typeface="+mn-ea"/>
                <a:ea typeface="+mn-ea"/>
                <a:cs typeface="+mn-ea"/>
              </a:rPr>
              <a:t> 처짐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δ</a:t>
            </a:r>
            <a:r>
              <a:rPr lang="ko-KR" altLang="en-US" dirty="0">
                <a:latin typeface="+mn-ea"/>
                <a:ea typeface="+mn-ea"/>
                <a:cs typeface="+mn-ea"/>
              </a:rPr>
              <a:t> =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PL³/3EI, </a:t>
            </a:r>
            <a:r>
              <a:rPr lang="ko-KR" altLang="en-US" dirty="0">
                <a:latin typeface="+mn-ea"/>
                <a:ea typeface="+mn-ea"/>
                <a:cs typeface="+mn-ea"/>
              </a:rPr>
              <a:t>하중 0~100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N</a:t>
            </a:r>
            <a:r>
              <a:rPr lang="ko-KR" altLang="en-US" dirty="0">
                <a:latin typeface="+mn-ea"/>
                <a:ea typeface="+mn-ea"/>
                <a:cs typeface="+mn-ea"/>
              </a:rPr>
              <a:t>을 20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N </a:t>
            </a:r>
            <a:r>
              <a:rPr lang="ko-KR" altLang="en-US" dirty="0">
                <a:latin typeface="+mn-ea"/>
                <a:ea typeface="+mn-ea"/>
                <a:cs typeface="+mn-ea"/>
              </a:rPr>
              <a:t>간격으로 진행했다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CLAUDE.md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결과의 재현성을 만들었다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도구가 없으면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agent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작업을 수행하지 </a:t>
            </a:r>
            <a:r>
              <a:rPr lang="ko-KR" altLang="en-US" dirty="0">
                <a:latin typeface="+mn-ea"/>
                <a:cs typeface="+mn-ea"/>
              </a:rPr>
              <a:t>못한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"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FreeCAD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실시간 제어할 수 있나" </a:t>
            </a:r>
            <a:r>
              <a:rPr lang="en-US" altLang="ko-KR" dirty="0">
                <a:latin typeface="+mn-ea"/>
                <a:ea typeface="+mn-ea"/>
                <a:cs typeface="+mn-ea"/>
              </a:rPr>
              <a:t>–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 err="1">
                <a:latin typeface="+mn-ea"/>
                <a:ea typeface="+mn-ea"/>
                <a:cs typeface="+mn-ea"/>
              </a:rPr>
              <a:t>mcp</a:t>
            </a:r>
            <a:r>
              <a:rPr lang="en-US" altLang="ko-KR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설정 전에는 불가능했다</a:t>
            </a:r>
            <a:endParaRPr lang="en-US" altLang="ko-KR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MCP Bridge </a:t>
            </a:r>
            <a:r>
              <a:rPr lang="ko-KR" altLang="en-US" dirty="0">
                <a:latin typeface="+mn-ea"/>
                <a:ea typeface="+mn-ea"/>
                <a:cs typeface="+mn-ea"/>
              </a:rPr>
              <a:t>연결 후 형상 제작 →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hex 2</a:t>
            </a:r>
            <a:r>
              <a:rPr lang="ko-KR" altLang="en-US" dirty="0">
                <a:latin typeface="+mn-ea"/>
                <a:ea typeface="+mn-ea"/>
                <a:cs typeface="+mn-ea"/>
              </a:rPr>
              <a:t>차 요소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메쉬</a:t>
            </a:r>
            <a:r>
              <a:rPr lang="ko-KR" altLang="en-US" dirty="0">
                <a:latin typeface="+mn-ea"/>
                <a:ea typeface="+mn-ea"/>
                <a:cs typeface="+mn-ea"/>
              </a:rPr>
              <a:t> → 경계조건 → 등가응력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solve </a:t>
            </a:r>
          </a:p>
        </p:txBody>
      </p:sp>
      <p:pic>
        <p:nvPicPr>
          <p:cNvPr id="7" name="그림 5">
            <a:extLst>
              <a:ext uri="{FF2B5EF4-FFF2-40B4-BE49-F238E27FC236}">
                <a16:creationId xmlns:a16="http://schemas.microsoft.com/office/drawing/2014/main" id="{AAE93C26-1BF9-3598-DEE9-887AA2817C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71507" y="3156263"/>
            <a:ext cx="5400986" cy="34206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VLA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기반 협동로봇 작업 수행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정책 하나로 여러 작업, 그러나 데이터가 병목이다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로봇 학습의 패러다임이 세 단계로 이동했다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Engineer everything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보상을 사람이 설계해 환경이 바뀌면 깨진다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Learn from demos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전문가 시연을 모방한다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One model, Any Task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정책 하나로 여러 작업을 하되 데이터가 병목이다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생성 모델은 확률 모델이라 같은 명령에도 결과가 달라진다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압축·복원이라 생성 모델이 아니고,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VAE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정규분포화했으나 흐리다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GAN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선명하나 판별자만 속이면 되어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mode collapse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생긴다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Diffusion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노이즈를 씌웠다가 역순으로 제거하며 생성한다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학습은 가상에서, 수행은 실환경에서 하므로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sim2real </a:t>
            </a:r>
            <a:r>
              <a:rPr lang="ko-KR" altLang="en-US" dirty="0">
                <a:latin typeface="+mn-ea"/>
                <a:ea typeface="+mn-ea"/>
                <a:cs typeface="+mn-ea"/>
              </a:rPr>
              <a:t>갭이 남는다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Visual gap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외관·조명·재질,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Dynamic gap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접촉·마찰·관성이다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관절 제어값에 정답이 없어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PHM </a:t>
            </a:r>
            <a:r>
              <a:rPr lang="ko-KR" altLang="en-US" dirty="0">
                <a:latin typeface="+mn-ea"/>
                <a:ea typeface="+mn-ea"/>
                <a:cs typeface="+mn-ea"/>
              </a:rPr>
              <a:t>관점의 적용은 아직 어렵다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시뮬레이션과 합성 데이터가 데이터 병목을 푸는 가장 유력한 길이다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정상 데이터만으로 이상을 잡는다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산업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AI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한계는 모델이 아니라 데이터 분포 변화다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제조 데이터의 불확실성은 도메인 지식으로 줄인다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외부 환경·운용 조건·센서·제어·동역학·운영 6단계로 계층화한다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사례는 와이어 하네스 압착 공정이다 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CFM, Crimp Force Monitoring)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수동 설정값 의존이 커서 불량을 과도하게 진단한다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정상 데이터만으로 학습한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복원오차로 이상을 탐지한다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실습은 10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AWG·24AWG </a:t>
            </a:r>
            <a:r>
              <a:rPr lang="ko-KR" altLang="en-US" dirty="0">
                <a:latin typeface="+mn-ea"/>
                <a:ea typeface="+mn-ea"/>
                <a:cs typeface="+mn-ea"/>
              </a:rPr>
              <a:t>두 굵기의 압착 파형을 대상으로 했다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숙련자의 정상 데이터인데도 작업이 누적될수록 복원오차가 증가한다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이것이 다음 장에서 다룰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data drift 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드리프트가 만드는 오경보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학습된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기준은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재학습</a:t>
            </a:r>
            <a:r>
              <a:rPr lang="ko-KR" altLang="en-US" dirty="0">
                <a:latin typeface="+mn-ea"/>
                <a:ea typeface="+mn-ea"/>
                <a:cs typeface="+mn-ea"/>
              </a:rPr>
              <a:t> 외에 변경할 수 없다</a:t>
            </a:r>
            <a:endParaRPr lang="en-US" altLang="ko-KR" dirty="0">
              <a:latin typeface="+mn-ea"/>
              <a:ea typeface="+mn-ea"/>
              <a:cs typeface="+mn-ea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측정값에서 추정 </a:t>
            </a:r>
            <a:r>
              <a:rPr lang="en-US" altLang="ko-KR" dirty="0">
                <a:latin typeface="+mn-ea"/>
                <a:cs typeface="+mn-ea"/>
              </a:rPr>
              <a:t>drift</a:t>
            </a:r>
            <a:r>
              <a:rPr lang="ko-KR" altLang="en-US" dirty="0">
                <a:latin typeface="+mn-ea"/>
                <a:cs typeface="+mn-ea"/>
              </a:rPr>
              <a:t>를 뺀 뒤 모델에 입력하여 우회한다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cs typeface="+mn-ea"/>
              </a:rPr>
              <a:t>보정 후 복원오차가 </a:t>
            </a:r>
            <a:r>
              <a:rPr lang="ko-KR" altLang="en-US" dirty="0" err="1">
                <a:latin typeface="+mn-ea"/>
                <a:cs typeface="+mn-ea"/>
              </a:rPr>
              <a:t>임계값</a:t>
            </a:r>
            <a:r>
              <a:rPr lang="ko-KR" altLang="en-US" dirty="0">
                <a:latin typeface="+mn-ea"/>
                <a:cs typeface="+mn-ea"/>
              </a:rPr>
              <a:t> 이하일 때에만 </a:t>
            </a:r>
            <a:r>
              <a:rPr lang="ko-KR" altLang="en-US" dirty="0" err="1">
                <a:latin typeface="+mn-ea"/>
                <a:cs typeface="+mn-ea"/>
              </a:rPr>
              <a:t>추정량을</a:t>
            </a:r>
            <a:r>
              <a:rPr lang="ko-KR" altLang="en-US" dirty="0">
                <a:latin typeface="+mn-ea"/>
                <a:cs typeface="+mn-ea"/>
              </a:rPr>
              <a:t> 갱신한다</a:t>
            </a:r>
            <a:endParaRPr lang="en-US" altLang="ko-KR" dirty="0">
              <a:latin typeface="+mn-ea"/>
              <a:cs typeface="+mn-ea"/>
            </a:endParaRPr>
          </a:p>
          <a:p>
            <a:pPr lvl="2">
              <a:defRPr/>
            </a:pPr>
            <a:r>
              <a:rPr lang="en-US" altLang="ko-KR" dirty="0">
                <a:latin typeface="+mn-ea"/>
                <a:ea typeface="+mn-ea"/>
                <a:cs typeface="+mn-ea"/>
              </a:rPr>
              <a:t>EMA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갱신하며 이상 파형이 기준에 흡수되는 것을 막는다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+mn-ea"/>
                <a:cs typeface="+mn-ea"/>
              </a:rPr>
              <a:t>Drift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크기와 증가율 자체를 열화 지표로 쓰기도 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5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750139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발열원은 철·구리·자석, 병목은 분야마다 다르다 (9:00~11:00)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40901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PMSM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철·구리·자석은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주 발열원이면서 하나의 자기회로다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기자력</a:t>
            </a:r>
            <a:r>
              <a:rPr lang="ko-KR" altLang="en-US" dirty="0">
                <a:latin typeface="+mn-ea"/>
                <a:ea typeface="+mn-ea"/>
                <a:cs typeface="+mn-ea"/>
              </a:rPr>
              <a:t> 요소는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자석·전기자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권선, 자기저항 요소는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공극·자석·전기강판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전기자동차는 고전압화와 고속화로 고출력을 얻는다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헤어핀 각선(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bar winding)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점적률을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올려 저항과 발열을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2-stage </a:t>
            </a:r>
            <a:r>
              <a:rPr lang="ko-KR" altLang="en-US" dirty="0">
                <a:latin typeface="+mn-ea"/>
                <a:ea typeface="+mn-ea"/>
                <a:cs typeface="+mn-ea"/>
              </a:rPr>
              <a:t>인버터는 저속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CEW(Closed-end Winding) </a:t>
            </a:r>
            <a:r>
              <a:rPr lang="ko-KR" altLang="en-US" dirty="0">
                <a:latin typeface="+mn-ea"/>
                <a:ea typeface="+mn-ea"/>
                <a:cs typeface="+mn-ea"/>
              </a:rPr>
              <a:t>고효율 모드와 고속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OEW (</a:t>
            </a:r>
            <a:r>
              <a:rPr lang="en-US" altLang="ko-KR" dirty="0">
                <a:latin typeface="Times New Roman"/>
                <a:cs typeface="Times New Roman"/>
              </a:rPr>
              <a:t>Op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ened-end Winding) </a:t>
            </a:r>
            <a:r>
              <a:rPr lang="ko-KR" altLang="en-US" dirty="0">
                <a:latin typeface="+mn-ea"/>
                <a:ea typeface="+mn-ea"/>
                <a:cs typeface="+mn-ea"/>
              </a:rPr>
              <a:t>고출력 모드를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절환한다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cs typeface="Times New Roman"/>
              </a:rPr>
              <a:t>누설자속 방지를 위해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ribless </a:t>
            </a:r>
            <a:r>
              <a:rPr lang="ko-KR" altLang="en-US" dirty="0">
                <a:latin typeface="+mn-ea"/>
                <a:ea typeface="+mn-ea"/>
                <a:cs typeface="+mn-ea"/>
              </a:rPr>
              <a:t>회전자에 카본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슬리브를</a:t>
            </a:r>
            <a:r>
              <a:rPr lang="ko-KR" altLang="en-US" dirty="0">
                <a:latin typeface="+mn-ea"/>
                <a:ea typeface="+mn-ea"/>
                <a:cs typeface="+mn-ea"/>
              </a:rPr>
              <a:t>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BYD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고장력</a:t>
            </a:r>
            <a:r>
              <a:rPr lang="ko-KR" altLang="en-US" dirty="0">
                <a:latin typeface="+mn-ea"/>
                <a:ea typeface="+mn-ea"/>
                <a:cs typeface="+mn-ea"/>
              </a:rPr>
              <a:t> 강판을 적용했다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고토크밀도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구현에 따른 열관리가 병목이다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0 rpm,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</a:t>
            </a:r>
            <a:r>
              <a:rPr lang="en-US" altLang="ko-KR" dirty="0">
                <a:latin typeface="+mn-ea"/>
                <a:ea typeface="+mn-ea"/>
                <a:cs typeface="+mn-ea"/>
              </a:rPr>
              <a:t>&amp;</a:t>
            </a:r>
            <a:r>
              <a:rPr lang="ko-KR" altLang="en-US" dirty="0">
                <a:latin typeface="+mn-ea"/>
                <a:ea typeface="+mn-ea"/>
                <a:cs typeface="+mn-ea"/>
              </a:rPr>
              <a:t>고속</a:t>
            </a:r>
            <a:r>
              <a:rPr lang="en-US" altLang="ko-KR" dirty="0">
                <a:latin typeface="+mn-ea"/>
                <a:ea typeface="+mn-ea"/>
                <a:cs typeface="+mn-ea"/>
              </a:rPr>
              <a:t>,</a:t>
            </a:r>
            <a:r>
              <a:rPr lang="ko-KR" altLang="en-US" dirty="0">
                <a:latin typeface="+mn-ea"/>
                <a:ea typeface="+mn-ea"/>
                <a:cs typeface="+mn-ea"/>
              </a:rPr>
              <a:t> 특정 </a:t>
            </a:r>
            <a:r>
              <a:rPr lang="ko-KR" altLang="en-US" dirty="0">
                <a:latin typeface="+mn-ea"/>
                <a:cs typeface="+mn-ea"/>
              </a:rPr>
              <a:t>토크</a:t>
            </a:r>
            <a:r>
              <a:rPr lang="ko-KR" altLang="en-US" dirty="0">
                <a:latin typeface="+mn-ea"/>
                <a:ea typeface="+mn-ea"/>
                <a:cs typeface="+mn-ea"/>
              </a:rPr>
              <a:t> 대역 수렴 조건이 반복되므로 권선 발열이 병목의 대부분이다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모터와 감속기 최적화,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관절별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</a:t>
            </a:r>
            <a:r>
              <a:rPr lang="ko-KR" altLang="en-US" dirty="0">
                <a:latin typeface="+mn-ea"/>
                <a:ea typeface="+mn-ea"/>
                <a:cs typeface="+mn-ea"/>
              </a:rPr>
              <a:t> 공용화가 전반적인 연구 동향이다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2" name="표 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89424"/>
              </p:ext>
            </p:extLst>
          </p:nvPr>
        </p:nvGraphicFramePr>
        <p:xfrm>
          <a:off x="914400" y="4736592"/>
          <a:ext cx="7315200" cy="1828800"/>
        </p:xfrm>
        <a:graphic>
          <a:graphicData uri="http://schemas.openxmlformats.org/drawingml/2006/table">
            <a:tbl>
              <a:tblPr firstRow="1" firstCol="1" band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응용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운전 특성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열관리 병목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전기자동차 (</a:t>
                      </a: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IPM)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고전압·고속, 피크 듀티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냉각수 재킷 + 오일 직접냉각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생활가전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제품별 상이 - 세탁기·팬·컴프레서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원가 제약 하의 신소재·공법 개발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로봇 액추에이터 (</a:t>
                      </a:r>
                      <a:r>
                        <a:rPr lang="en-US" altLang="ko-KR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속도 및 토크 조건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지속 변경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전폐형 구조로 열전달 경로 열악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히스테리시스 면적이 곧 철손이다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자성재료는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반자성·상자성·강자성으로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나뉜다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강자성체는 자석 같은 경자성체와 철 같은 연자성체로 갈린다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투자율이 자기저항을 정한다. 자기저항은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공기·자석·구리가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크고 전기강판이 작다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전기강판은 투자율이 높고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작도록 만든 강판이다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얇게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적층해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단면적을 줄이면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와전류</a:t>
            </a:r>
            <a:r>
              <a:rPr lang="ko-KR" altLang="en-US" dirty="0">
                <a:latin typeface="+mn-ea"/>
                <a:ea typeface="+mn-ea"/>
                <a:cs typeface="+mn-ea"/>
              </a:rPr>
              <a:t> 손실이 감소한다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자기저항 증가와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감소는 서로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trade-off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전류가 커져 자기 포화에 들면 투자율이 떨어져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자속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증가율이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둔해진다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B-H(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자속밀도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자화의 세기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 </a:t>
            </a:r>
            <a:r>
              <a:rPr lang="ko-KR" altLang="en-US" dirty="0">
                <a:latin typeface="+mn-ea"/>
                <a:ea typeface="+mn-ea"/>
                <a:cs typeface="+mn-ea"/>
              </a:rPr>
              <a:t>곡선의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히스테리시스</a:t>
            </a:r>
            <a:r>
              <a:rPr lang="ko-KR" altLang="en-US" dirty="0">
                <a:latin typeface="+mn-ea"/>
                <a:ea typeface="+mn-ea"/>
                <a:cs typeface="+mn-ea"/>
              </a:rPr>
              <a:t> 면적이 곧 열손실이다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전류를 0으로 되돌려도 잔류 자화가 남아 실제 면적이 더 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 증가 → 자속밀도 상승 → 루프 면적 증가 →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철손은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주파수와 자속밀도에 비례한다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en-US" altLang="ko-KR" sz="2000">
                <a:latin typeface="Times New Roman"/>
                <a:ea typeface="+mn-ea"/>
                <a:cs typeface="Times New Roman"/>
              </a:rPr>
              <a:t>Knee point </a:t>
            </a:r>
            <a:r>
              <a:rPr lang="ko-KR" altLang="en-US" sz="2000">
                <a:latin typeface="+mn-ea"/>
                <a:ea typeface="+mn-ea"/>
                <a:cs typeface="+mn-ea"/>
              </a:rPr>
              <a:t>아래로 내려가면 되돌릴 수 없다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099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영구자석은 코일을 대체해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기자력을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만든다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감자에는 </a:t>
            </a:r>
            <a:r>
              <a:rPr lang="ko-KR" altLang="en-US" dirty="0">
                <a:latin typeface="+mn-ea"/>
                <a:cs typeface="+mn-ea"/>
              </a:rPr>
              <a:t>가역 감자와 불가역 감자로 나뉜다</a:t>
            </a:r>
            <a:endParaRPr lang="en-US" altLang="ko-KR" dirty="0">
              <a:latin typeface="+mn-ea"/>
              <a:cs typeface="+mn-ea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가역 감자</a:t>
            </a:r>
            <a:r>
              <a:rPr lang="en-US" altLang="ko-KR" dirty="0">
                <a:latin typeface="+mn-ea"/>
                <a:ea typeface="+mn-ea"/>
                <a:cs typeface="+mn-ea"/>
              </a:rPr>
              <a:t>: </a:t>
            </a:r>
            <a:r>
              <a:rPr lang="ko-KR" altLang="en-US" dirty="0">
                <a:latin typeface="+mn-ea"/>
                <a:ea typeface="+mn-ea"/>
                <a:cs typeface="+mn-ea"/>
              </a:rPr>
              <a:t>외부 요인 제거 시 영구자석의 성능 복구</a:t>
            </a:r>
            <a:endParaRPr lang="en-US" altLang="ko-KR" dirty="0">
              <a:latin typeface="+mn-ea"/>
              <a:ea typeface="+mn-ea"/>
              <a:cs typeface="+mn-ea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불가역 감자</a:t>
            </a:r>
            <a:r>
              <a:rPr lang="en-US" altLang="ko-KR" dirty="0">
                <a:latin typeface="+mn-ea"/>
                <a:cs typeface="+mn-ea"/>
              </a:rPr>
              <a:t>: </a:t>
            </a:r>
            <a:r>
              <a:rPr lang="ko-KR" altLang="en-US" dirty="0">
                <a:latin typeface="+mn-ea"/>
                <a:cs typeface="+mn-ea"/>
              </a:rPr>
              <a:t>외부 요인 제거 시 영구자석의 성능 저하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동작점이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Knee point </a:t>
            </a:r>
            <a:r>
              <a:rPr lang="ko-KR" altLang="en-US" dirty="0">
                <a:latin typeface="+mn-ea"/>
                <a:ea typeface="+mn-ea"/>
                <a:cs typeface="+mn-ea"/>
              </a:rPr>
              <a:t>아래로 내려가면 불가역 감자가 발생한다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원인은 자석 온도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상승·전기자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반작용·퍼미언스</a:t>
            </a:r>
            <a:r>
              <a:rPr lang="en-US" altLang="ko-KR" dirty="0">
                <a:latin typeface="+mn-ea"/>
                <a:ea typeface="+mn-ea"/>
                <a:cs typeface="+mn-ea"/>
              </a:rPr>
              <a:t>(</a:t>
            </a:r>
            <a:r>
              <a:rPr lang="ko-KR" altLang="en-US" dirty="0">
                <a:latin typeface="+mn-ea"/>
                <a:ea typeface="+mn-ea"/>
                <a:cs typeface="+mn-ea"/>
              </a:rPr>
              <a:t>자기저항의 역수</a:t>
            </a:r>
            <a:r>
              <a:rPr lang="en-US" altLang="ko-KR" dirty="0">
                <a:latin typeface="+mn-ea"/>
                <a:ea typeface="+mn-ea"/>
                <a:cs typeface="+mn-ea"/>
              </a:rPr>
              <a:t>)</a:t>
            </a:r>
            <a:r>
              <a:rPr lang="ko-KR" altLang="en-US" dirty="0">
                <a:latin typeface="+mn-ea"/>
                <a:ea typeface="+mn-ea"/>
                <a:cs typeface="+mn-ea"/>
              </a:rPr>
              <a:t> 계수 변화 셋이다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자석이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감자되지</a:t>
            </a:r>
            <a:r>
              <a:rPr lang="ko-KR" altLang="en-US" dirty="0">
                <a:latin typeface="+mn-ea"/>
                <a:ea typeface="+mn-ea"/>
                <a:cs typeface="+mn-ea"/>
              </a:rPr>
              <a:t> 않고 구리가 타지 않는 것이 열관리의 핵심이다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8" name="그림 9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86560" y="3337560"/>
            <a:ext cx="5770880" cy="32461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 dirty="0">
                <a:latin typeface="+mn-ea"/>
                <a:ea typeface="+mn-ea"/>
                <a:cs typeface="+mn-ea"/>
              </a:rPr>
              <a:t>전류 한계선이 곧 열 한계선이다</a:t>
            </a:r>
            <a:endParaRPr lang="ko-KR" altLang="en-US" sz="2000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9825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토크는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마그네틱과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릴럭턴스</a:t>
            </a:r>
            <a:r>
              <a:rPr lang="ko-KR" altLang="en-US" dirty="0">
                <a:latin typeface="+mn-ea"/>
                <a:ea typeface="+mn-ea"/>
                <a:cs typeface="+mn-ea"/>
              </a:rPr>
              <a:t> 토크로 </a:t>
            </a:r>
            <a:r>
              <a:rPr lang="ko-KR" altLang="en-US" dirty="0">
                <a:latin typeface="+mn-ea"/>
                <a:cs typeface="+mn-ea"/>
              </a:rPr>
              <a:t>발생하</a:t>
            </a:r>
            <a:r>
              <a:rPr lang="ko-KR" altLang="en-US" dirty="0">
                <a:latin typeface="+mn-ea"/>
                <a:ea typeface="+mn-ea"/>
                <a:cs typeface="+mn-ea"/>
              </a:rPr>
              <a:t>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d(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자속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)·q(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회전력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 </a:t>
            </a:r>
            <a:r>
              <a:rPr lang="ko-KR" altLang="en-US" dirty="0">
                <a:latin typeface="+mn-ea"/>
                <a:ea typeface="+mn-ea"/>
                <a:cs typeface="+mn-ea"/>
              </a:rPr>
              <a:t>축으로 배분한다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MTPA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같은 전류로 최대 토크를 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동손과</a:t>
            </a:r>
            <a:r>
              <a:rPr lang="ko-KR" altLang="en-US" dirty="0">
                <a:latin typeface="+mn-ea"/>
                <a:ea typeface="+mn-ea"/>
                <a:cs typeface="+mn-ea"/>
              </a:rPr>
              <a:t> 권선 온도를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 err="1">
                <a:latin typeface="+mn-ea"/>
                <a:cs typeface="+mn-ea"/>
              </a:rPr>
              <a:t>동손이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cs typeface="+mn-ea"/>
              </a:rPr>
              <a:t>고토크</a:t>
            </a:r>
            <a:r>
              <a:rPr lang="ko-KR" altLang="en-US" dirty="0">
                <a:latin typeface="+mn-ea"/>
                <a:cs typeface="+mn-ea"/>
              </a:rPr>
              <a:t> 영역의 온도를 지배한다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동손은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전기자 권선에서 나며 전류 제곱이라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고토크를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지배한다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철손·기계손·자석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와전류손은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전기강판과 회전자에서 나며 고속에서 커진다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62176" y="3310128"/>
            <a:ext cx="5819648" cy="32735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열을 빼내지 못하면 절연이 깨진다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4110656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간접냉각은 권선 → 고정자 → 하우징 → 냉각수로 열을 옮긴다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냉각수는 전도체라 권선에 직접 분사할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냉각 성능과 냉각채널 차압을 함께 본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cooling jacket </a:t>
            </a:r>
            <a:r>
              <a:rPr lang="ko-KR" altLang="en-US" dirty="0">
                <a:latin typeface="+mn-ea"/>
                <a:ea typeface="+mn-ea"/>
                <a:cs typeface="+mn-ea"/>
              </a:rPr>
              <a:t>설계가 필요하다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로터리 조인트로 샤프트를 간접 냉각해 자석의 감자 강건성을 확보한다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직접냉각은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ATF-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오일·절연유를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발열원에 직접 접촉시킨다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직접냉각과 동시에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베어링·감속기</a:t>
            </a:r>
            <a:r>
              <a:rPr lang="ko-KR" altLang="en-US" dirty="0">
                <a:latin typeface="+mn-ea"/>
                <a:ea typeface="+mn-ea"/>
                <a:cs typeface="+mn-ea"/>
              </a:rPr>
              <a:t> 윤활을 겸한다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중공 도체와 슬롯 내 열교환기를 적층 제조해 발열량을 낮춘다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모터·인버터</a:t>
            </a:r>
            <a:r>
              <a:rPr lang="ko-KR" altLang="en-US" dirty="0">
                <a:latin typeface="+mn-ea"/>
                <a:ea typeface="+mn-ea"/>
                <a:cs typeface="+mn-ea"/>
              </a:rPr>
              <a:t> 발열로 배터리를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승온해</a:t>
            </a:r>
            <a:r>
              <a:rPr lang="ko-KR" altLang="en-US" dirty="0">
                <a:latin typeface="+mn-ea"/>
                <a:ea typeface="+mn-ea"/>
                <a:cs typeface="+mn-ea"/>
              </a:rPr>
              <a:t> 별도 히터를 없앤다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전폐형이라 열전달 경로가 열악하다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→ 하우징 → 링크 → 외기가 유일한 경로다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고정자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Potting</a:t>
            </a:r>
            <a:r>
              <a:rPr lang="ko-KR" altLang="en-US" dirty="0">
                <a:latin typeface="+mn-ea"/>
                <a:ea typeface="+mn-ea"/>
                <a:cs typeface="+mn-ea"/>
              </a:rPr>
              <a:t>으로 방열 면적을 늘린다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핫스팟이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한계 온도에 닿으면 절연파괴로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액추에이터가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고장난다</a:t>
            </a:r>
            <a:endParaRPr lang="en-US" altLang="ko-KR" dirty="0">
              <a:latin typeface="Times New Roman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ea typeface="+mn-ea"/>
                <a:cs typeface="Times New Roman"/>
              </a:rPr>
              <a:t>최근에는 </a:t>
            </a:r>
            <a:r>
              <a:rPr lang="ko-KR" altLang="en-US" dirty="0">
                <a:latin typeface="Times New Roman"/>
                <a:cs typeface="Times New Roman"/>
              </a:rPr>
              <a:t>관절 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액추에이터에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 err="1">
                <a:latin typeface="Times New Roman"/>
                <a:ea typeface="+mn-ea"/>
                <a:cs typeface="Times New Roman"/>
              </a:rPr>
              <a:t>액침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 냉각 방식을 적용한 열 관리 연구가 진행 중이다</a:t>
            </a:r>
            <a:endParaRPr lang="en-US" altLang="ko-KR" dirty="0">
              <a:latin typeface="+mn-ea"/>
              <a:ea typeface="+mn-ea"/>
              <a:cs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모터 베어링 진단을 위한 기초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필터링만으로는 결함 주파수가 안 보인다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모터 고장은 통계상 대부분 베어링과 고정자에서 발생한다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상태진단 물리량은 진동·전류·온도·음향 넷이다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전류는 신호처리 관점에서 진동과 매우 유사하다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진동은 기계적 결함에, 전류(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MCSA)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회전자·전기적 결함에 민감하다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진동은 힘이 가해져야만 생기며 주기·충격·랜덤 가진으로 나뉜다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진동계는 질량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감쇠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c, </a:t>
            </a:r>
            <a:r>
              <a:rPr lang="ko-KR" altLang="en-US" dirty="0">
                <a:latin typeface="+mn-ea"/>
                <a:ea typeface="+mn-ea"/>
                <a:cs typeface="+mn-ea"/>
              </a:rPr>
              <a:t>강성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기술된다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진폭·주파수·위상 셋으로 표현한다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계측 신호는 이산이라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DFT</a:t>
            </a:r>
            <a:r>
              <a:rPr lang="ko-KR" altLang="en-US" dirty="0">
                <a:latin typeface="+mn-ea"/>
                <a:ea typeface="+mn-ea"/>
                <a:cs typeface="+mn-ea"/>
              </a:rPr>
              <a:t>를, 속도를 위해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FFT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해상도 Δ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 = 1/T, </a:t>
            </a:r>
            <a:r>
              <a:rPr lang="ko-KR" altLang="en-US" dirty="0">
                <a:latin typeface="+mn-ea"/>
                <a:ea typeface="+mn-ea"/>
                <a:cs typeface="+mn-ea"/>
              </a:rPr>
              <a:t>최대 주파수가 샘플링 주파수의 절반이므로 측정 시간을 늘리고 샘플링을 세밀하게 한다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Butterworth·Chebyshev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필터링하되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order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높으면 왜곡이 생긴다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필터링한 시간 파형에는 충격이 보이나 결함 주파수는 안 잡힌다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2일차 · 모터 베어링 진단을 위한 기초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포락선이 결함 주파수를 드러낸다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필터링은 반송파를 고르는 일, 포락선은 그것을 버리는 일이다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Hilbert </a:t>
            </a:r>
            <a:r>
              <a:rPr lang="ko-KR" altLang="en-US">
                <a:latin typeface="+mn-ea"/>
                <a:ea typeface="+mn-ea"/>
                <a:cs typeface="+mn-ea"/>
              </a:rPr>
              <a:t>변환으로 위상을 90° 돌려 해석적 신호를 만든다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+mn-ea"/>
                <a:ea typeface="+mn-ea"/>
                <a:cs typeface="+mn-ea"/>
              </a:rPr>
              <a:t>결함 주기는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BPFI·BPFO·BSF</a:t>
            </a:r>
            <a:r>
              <a:rPr lang="ko-KR" altLang="en-US">
                <a:latin typeface="+mn-ea"/>
                <a:ea typeface="+mn-ea"/>
                <a:cs typeface="+mn-ea"/>
              </a:rPr>
              <a:t>로 갈리며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BPFI</a:t>
            </a:r>
            <a:r>
              <a:rPr lang="ko-KR" altLang="en-US">
                <a:latin typeface="+mn-ea"/>
                <a:ea typeface="+mn-ea"/>
                <a:cs typeface="+mn-ea"/>
              </a:rPr>
              <a:t>가 가장 짧다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651760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감속기 진단을 위한 신호처리 기법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정상 성분을 지우고 이상 성분만 본다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655914" cy="416649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감속기는 전달오차의 변동 폭을 줄이는 것이 설계의 핵심이다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치</a:t>
            </a:r>
            <a:r>
              <a:rPr lang="ko-KR" altLang="en-US" dirty="0">
                <a:latin typeface="+mn-ea"/>
                <a:ea typeface="+mn-ea"/>
                <a:cs typeface="+mn-ea"/>
              </a:rPr>
              <a:t> 하나가 맞물리다가 둘이 맞물리면 강성이 바뀌고 그 폭이 반복된다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백래시는</a:t>
            </a:r>
            <a:r>
              <a:rPr lang="ko-KR" altLang="en-US" dirty="0">
                <a:latin typeface="+mn-ea"/>
                <a:ea typeface="+mn-ea"/>
                <a:cs typeface="+mn-ea"/>
              </a:rPr>
              <a:t> 부드러운 회전에 필요하나 위치 정밀도에는 치명적이다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 err="1">
                <a:latin typeface="Times New Roman"/>
                <a:ea typeface="+mn-ea"/>
                <a:cs typeface="Times New Roman"/>
              </a:rPr>
              <a:t>Planet·Cycloidal·RV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구조로 최소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백래시와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고감속을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얻는다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결함은 분포 결함과 국부 결함으로 나뉜다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분포 결함은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전달오차·백래시가</a:t>
            </a:r>
            <a:r>
              <a:rPr lang="ko-KR" altLang="en-US" dirty="0">
                <a:latin typeface="+mn-ea"/>
                <a:ea typeface="+mn-ea"/>
                <a:cs typeface="+mn-ea"/>
              </a:rPr>
              <a:t> 커져 진폭이 전반적으로 오른다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같은 운전에 필요한 하중이 변해 전력과 미세 전류에도 드러난다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국부 결함은 맞물림 주기마다 간헐적 충격성 진동을 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로봇은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가감속</a:t>
            </a:r>
            <a:r>
              <a:rPr lang="ko-KR" altLang="en-US" dirty="0">
                <a:latin typeface="+mn-ea"/>
                <a:ea typeface="+mn-ea"/>
                <a:cs typeface="+mn-ea"/>
              </a:rPr>
              <a:t> 반복이라 </a:t>
            </a:r>
            <a:r>
              <a:rPr lang="en-US" altLang="ko-KR" dirty="0">
                <a:latin typeface="+mn-ea"/>
                <a:cs typeface="+mn-ea"/>
              </a:rPr>
              <a:t>nonstationary</a:t>
            </a:r>
            <a:r>
              <a:rPr lang="ko-KR" altLang="en-US" dirty="0">
                <a:latin typeface="+mn-ea"/>
                <a:ea typeface="+mn-ea"/>
                <a:cs typeface="+mn-ea"/>
              </a:rPr>
              <a:t>다. 각도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리샘플링이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이것을 </a:t>
            </a:r>
            <a:r>
              <a:rPr lang="en-US" altLang="ko-KR" dirty="0">
                <a:latin typeface="+mn-ea"/>
                <a:ea typeface="+mn-ea"/>
                <a:cs typeface="+mn-ea"/>
              </a:rPr>
              <a:t>stationary</a:t>
            </a:r>
            <a:r>
              <a:rPr lang="ko-KR" altLang="en-US" dirty="0">
                <a:latin typeface="+mn-ea"/>
                <a:cs typeface="+mn-ea"/>
              </a:rPr>
              <a:t>로 바꾼다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엔코더로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각도를 측정하여 </a:t>
            </a:r>
            <a:r>
              <a:rPr lang="ko-KR" altLang="en-US" dirty="0">
                <a:latin typeface="+mn-ea"/>
                <a:cs typeface="+mn-ea"/>
              </a:rPr>
              <a:t>맞물림당 진동 샘플 수가 같도록 </a:t>
            </a:r>
            <a:r>
              <a:rPr lang="ko-KR" altLang="en-US" dirty="0" err="1">
                <a:latin typeface="+mn-ea"/>
                <a:cs typeface="+mn-ea"/>
              </a:rPr>
              <a:t>보간한다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Times New Roman"/>
                <a:cs typeface="Times New Roman"/>
              </a:rPr>
              <a:t>오더 분석은 가로축을 </a:t>
            </a:r>
            <a:r>
              <a:rPr lang="en-US" altLang="ko-KR" dirty="0">
                <a:latin typeface="Times New Roman"/>
                <a:cs typeface="Times New Roman"/>
              </a:rPr>
              <a:t>Hz</a:t>
            </a:r>
            <a:r>
              <a:rPr lang="ko-KR" altLang="en-US" dirty="0">
                <a:latin typeface="Times New Roman"/>
                <a:cs typeface="Times New Roman"/>
              </a:rPr>
              <a:t>가 아닌 </a:t>
            </a:r>
            <a:r>
              <a:rPr lang="en-US" altLang="ko-KR" dirty="0">
                <a:latin typeface="Times New Roman"/>
                <a:cs typeface="Times New Roman"/>
              </a:rPr>
              <a:t>order</a:t>
            </a:r>
            <a:r>
              <a:rPr lang="ko-KR" altLang="en-US" dirty="0">
                <a:latin typeface="Times New Roman"/>
                <a:cs typeface="Times New Roman"/>
              </a:rPr>
              <a:t>로 읽는다</a:t>
            </a:r>
            <a:endParaRPr lang="en-US" altLang="ko-KR" dirty="0">
              <a:latin typeface="Times New Roman"/>
              <a:cs typeface="Times New Roman"/>
            </a:endParaRPr>
          </a:p>
          <a:p>
            <a:pPr lvl="3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1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초당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sample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수가 아닌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, 1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바퀴</a:t>
            </a:r>
            <a:r>
              <a:rPr lang="ko-KR" altLang="en-US" dirty="0">
                <a:latin typeface="Times New Roman"/>
                <a:cs typeface="Times New Roman"/>
              </a:rPr>
              <a:t>당 </a:t>
            </a:r>
            <a:r>
              <a:rPr lang="en-US" altLang="ko-KR" dirty="0">
                <a:latin typeface="Times New Roman"/>
                <a:cs typeface="Times New Roman"/>
              </a:rPr>
              <a:t>sample </a:t>
            </a:r>
            <a:r>
              <a:rPr lang="ko-KR" altLang="en-US" dirty="0">
                <a:latin typeface="Times New Roman"/>
                <a:cs typeface="Times New Roman"/>
              </a:rPr>
              <a:t>수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이다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. 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속도가 변해도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order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는 변하지 않는다</a:t>
            </a: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TSA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대상 기어 회전별로 잘라 평균해 노이즈를</a:t>
            </a:r>
            <a:r>
              <a:rPr lang="en-US" altLang="ko-KR" dirty="0">
                <a:latin typeface="+mn-ea"/>
                <a:ea typeface="+mn-ea"/>
                <a:cs typeface="+mn-ea"/>
              </a:rPr>
              <a:t>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Residual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정상 물림을,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difference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sideband</a:t>
            </a:r>
            <a:r>
              <a:rPr lang="ko-KR" altLang="en-US" dirty="0">
                <a:latin typeface="+mn-ea"/>
                <a:cs typeface="+mn-ea"/>
              </a:rPr>
              <a:t>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배터리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SOC/SOH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전류적산의 초기 오차를 무엇으로 잡는가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BMS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SOC·SOH·</a:t>
            </a:r>
            <a:r>
              <a:rPr lang="ko-KR" altLang="en-US" dirty="0">
                <a:latin typeface="+mn-ea"/>
                <a:ea typeface="+mn-ea"/>
                <a:cs typeface="+mn-ea"/>
              </a:rPr>
              <a:t>온도로 출력을 조절해 과출력과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저출력을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막는다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출력 전압은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OCV·</a:t>
            </a:r>
            <a:r>
              <a:rPr lang="ko-KR" altLang="en-US" dirty="0">
                <a:latin typeface="+mn-ea"/>
                <a:ea typeface="+mn-ea"/>
                <a:cs typeface="+mn-ea"/>
              </a:rPr>
              <a:t>전류·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SOC·SOH·</a:t>
            </a:r>
            <a:r>
              <a:rPr lang="ko-KR" altLang="en-US" dirty="0">
                <a:latin typeface="+mn-ea"/>
                <a:ea typeface="+mn-ea"/>
                <a:cs typeface="+mn-ea"/>
              </a:rPr>
              <a:t>온도의 함수다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과충전·과방전은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열폭주로 이어질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정격 전압은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OCV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결정된다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직접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산출·측정</a:t>
            </a:r>
            <a:r>
              <a:rPr lang="ko-KR" altLang="en-US" dirty="0">
                <a:latin typeface="+mn-ea"/>
                <a:ea typeface="+mn-ea"/>
                <a:cs typeface="+mn-ea"/>
              </a:rPr>
              <a:t> 방식은 </a:t>
            </a:r>
            <a:r>
              <a:rPr lang="ko-KR" altLang="en-US" dirty="0">
                <a:latin typeface="+mn-ea"/>
                <a:cs typeface="+mn-ea"/>
              </a:rPr>
              <a:t>한계가 서로 다르다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전류적산법은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SOC</a:t>
            </a:r>
            <a:r>
              <a:rPr lang="ko-KR" altLang="en-US" dirty="0">
                <a:latin typeface="+mn-ea"/>
                <a:ea typeface="+mn-ea"/>
                <a:cs typeface="+mn-ea"/>
              </a:rPr>
              <a:t>를 직접 산출하지만 초기 오차가 남는다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용량은 0.2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 3</a:t>
            </a:r>
            <a:r>
              <a:rPr lang="ko-KR" altLang="en-US" dirty="0">
                <a:latin typeface="+mn-ea"/>
                <a:ea typeface="+mn-ea"/>
                <a:cs typeface="+mn-ea"/>
              </a:rPr>
              <a:t>사이클 방전 용량 평균이며 측정에 3~4일 걸린다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OCV </a:t>
            </a:r>
            <a:r>
              <a:rPr lang="ko-KR" altLang="en-US" dirty="0">
                <a:latin typeface="+mn-ea"/>
                <a:ea typeface="+mn-ea"/>
                <a:cs typeface="+mn-ea"/>
              </a:rPr>
              <a:t>기반은 간단하나 휴지 시간이 길고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LFP</a:t>
            </a:r>
            <a:r>
              <a:rPr lang="ko-KR" altLang="en-US" dirty="0">
                <a:latin typeface="+mn-ea"/>
                <a:ea typeface="+mn-ea"/>
                <a:cs typeface="+mn-ea"/>
              </a:rPr>
              <a:t>에서 오차가 크다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칼만 필터는 모델 예측과 측정을 비교하며 실시간 보정한다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ECM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입력 전류, 출력 전압, 파라미터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R·C·OCV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구성된다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EKF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자코비안으로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비선형 시스템을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선형화한다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모델 설계가 </a:t>
            </a:r>
            <a:r>
              <a:rPr lang="ko-KR" altLang="en-US" dirty="0">
                <a:latin typeface="+mn-ea"/>
                <a:cs typeface="+mn-ea"/>
              </a:rPr>
              <a:t>잘못되면 오차가 줄지 않는다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2일차 · 배터리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SOC/SOH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용량 기준인가 저항 기준인가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en-US" altLang="ko-KR" dirty="0">
                <a:latin typeface="Times New Roman"/>
                <a:ea typeface="+mn-ea"/>
                <a:cs typeface="Times New Roman"/>
              </a:rPr>
              <a:t>SOH</a:t>
            </a:r>
            <a:r>
              <a:rPr lang="ko-KR" altLang="en-US" dirty="0">
                <a:latin typeface="+mn-ea"/>
                <a:ea typeface="+mn-ea"/>
                <a:cs typeface="+mn-ea"/>
              </a:rPr>
              <a:t>는 리튬이온 배터리의 열화 상태를 나타내는 지표다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잔여 용량 기준은 초기 용량 대비 현재 최대 충방전 용량 비율이다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내부 저항 기준은 초기 저항 대비 현재 저항 비율이다</a:t>
            </a:r>
          </a:p>
          <a:p>
            <a:pPr lvl="2"/>
            <a:r>
              <a:rPr lang="en-US" altLang="ko-KR" dirty="0">
                <a:latin typeface="Times New Roman"/>
                <a:ea typeface="+mn-ea"/>
                <a:cs typeface="Times New Roman"/>
              </a:rPr>
              <a:t>SOH</a:t>
            </a:r>
            <a:r>
              <a:rPr lang="ko-KR" altLang="en-US" dirty="0">
                <a:latin typeface="+mn-ea"/>
                <a:cs typeface="+mn-ea"/>
              </a:rPr>
              <a:t>는 기준 정의를 먼저 확인한다</a:t>
            </a:r>
            <a:endParaRPr lang="ko-KR" altLang="en-US" dirty="0">
              <a:latin typeface="+mn-ea"/>
              <a:ea typeface="+mn-ea"/>
              <a:cs typeface="+mn-ea"/>
            </a:endParaRPr>
          </a:p>
          <a:p>
            <a:pPr lvl="1"/>
            <a:r>
              <a:rPr lang="en-US" altLang="ko-KR" dirty="0">
                <a:latin typeface="Times New Roman"/>
                <a:ea typeface="+mn-ea"/>
                <a:cs typeface="Times New Roman"/>
              </a:rPr>
              <a:t>EOL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설계된 성능과 안정성을 더 못 내는 시점이다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용량 기준으로는 초기 용량의 80% 이하로 떨어진 때다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저항 기준으로는 내부 저항이 초기의 2배가 된 때다</a:t>
            </a:r>
          </a:p>
          <a:p>
            <a:pPr lvl="1"/>
            <a:r>
              <a:rPr lang="ko-KR" altLang="en-US" dirty="0">
                <a:latin typeface="+mn-ea"/>
                <a:ea typeface="+mn-ea"/>
                <a:cs typeface="+mn-ea"/>
              </a:rPr>
              <a:t>직접 추정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en-US" altLang="ko-KR" dirty="0">
                <a:latin typeface="+mn-ea"/>
                <a:cs typeface="+mn-ea"/>
              </a:rPr>
              <a:t>/</a:t>
            </a:r>
            <a:r>
              <a:rPr lang="ko-KR" altLang="en-US" dirty="0">
                <a:latin typeface="+mn-ea"/>
                <a:ea typeface="+mn-ea"/>
                <a:cs typeface="+mn-ea"/>
              </a:rPr>
              <a:t> 간접 추정</a:t>
            </a:r>
            <a:r>
              <a:rPr lang="ko-KR" altLang="en-US" dirty="0">
                <a:latin typeface="+mn-ea"/>
                <a:cs typeface="+mn-ea"/>
              </a:rPr>
              <a:t> </a:t>
            </a:r>
            <a:endParaRPr lang="ko-KR" altLang="en-US" dirty="0">
              <a:latin typeface="+mn-ea"/>
              <a:ea typeface="+mn-ea"/>
              <a:cs typeface="+mn-ea"/>
            </a:endParaRP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직접은 완충-완방 용량 측정, 펄스 테스트, 임피던스 분광법이다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간접은 모델 기반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ECM</a:t>
            </a:r>
            <a:r>
              <a:rPr lang="ko-KR" altLang="en-US" dirty="0">
                <a:latin typeface="+mn-ea"/>
                <a:ea typeface="+mn-ea"/>
                <a:cs typeface="+mn-ea"/>
              </a:rPr>
              <a:t>과 데이터 기반으로 갈린다</a:t>
            </a:r>
          </a:p>
          <a:p>
            <a:pPr lvl="2"/>
            <a:r>
              <a:rPr lang="ko-KR" altLang="en-US" dirty="0">
                <a:latin typeface="+mn-ea"/>
                <a:ea typeface="+mn-ea"/>
                <a:cs typeface="+mn-ea"/>
              </a:rPr>
              <a:t>데이터가 적으면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GPR, </a:t>
            </a:r>
            <a:r>
              <a:rPr lang="ko-KR" altLang="en-US" dirty="0">
                <a:latin typeface="+mn-ea"/>
                <a:ea typeface="+mn-ea"/>
                <a:cs typeface="+mn-ea"/>
              </a:rPr>
              <a:t>복잡한 열화 패턴이면 딥러닝을 쓴다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반도체 패키징 열-기계 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PHM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감지는 되는데 위치는 못 짚는다 (9:00~11:00)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온도가 10 °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C </a:t>
            </a:r>
            <a:r>
              <a:rPr lang="ko-KR" altLang="en-US" dirty="0">
                <a:latin typeface="+mn-ea"/>
                <a:ea typeface="+mn-ea"/>
                <a:cs typeface="+mn-ea"/>
              </a:rPr>
              <a:t>오르면 수명이 절반이</a:t>
            </a:r>
            <a:r>
              <a:rPr lang="ko-KR" altLang="en-US" dirty="0">
                <a:latin typeface="+mn-ea"/>
                <a:cs typeface="+mn-ea"/>
              </a:rPr>
              <a:t> 되므로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 측정이 곧 신뢰성 평가다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과도 열응답을 층별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열저항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지도로 바꾸는 것이 구조함수다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접합부 온도는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PN </a:t>
            </a:r>
            <a:r>
              <a:rPr lang="ko-KR" altLang="en-US" dirty="0">
                <a:latin typeface="+mn-ea"/>
                <a:ea typeface="+mn-ea"/>
                <a:cs typeface="+mn-ea"/>
              </a:rPr>
              <a:t>접합 전압으로 재고 그 과도 응답이 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Z</a:t>
            </a:r>
            <a:r>
              <a:rPr lang="en-US" altLang="ko-KR" baseline="-25000" dirty="0" err="1">
                <a:latin typeface="Times New Roman"/>
                <a:ea typeface="+mn-ea"/>
                <a:cs typeface="Times New Roman"/>
              </a:rPr>
              <a:t>th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감지 한계와 위치 추정의 한계는 </a:t>
            </a:r>
            <a:r>
              <a:rPr lang="ko-KR" altLang="en-US" dirty="0">
                <a:latin typeface="+mn-ea"/>
                <a:cs typeface="+mn-ea"/>
              </a:rPr>
              <a:t>원인이 다르다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저열화·고잡음이거나</a:t>
            </a:r>
            <a:r>
              <a:rPr lang="ko-KR" altLang="en-US" dirty="0">
                <a:latin typeface="+mn-ea"/>
                <a:ea typeface="+mn-ea"/>
                <a:cs typeface="+mn-ea"/>
              </a:rPr>
              <a:t> 열저항이 작은 층은 분기가 묻힌다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6" name="그림 9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전력반도체 열화 감시 회로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전압을 못 믿으면 전류를 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전력반도체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PHM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감지 단계에 집중해야 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다층 열팽창계수 불일치가 전력 사이클 피로를 만들고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열저항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증가로 나타난다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정적 지표는 온 상태 저항과 게이트 누설 전류, 동적 지표는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스위칭</a:t>
            </a:r>
            <a:r>
              <a:rPr lang="ko-KR" altLang="en-US" dirty="0">
                <a:latin typeface="+mn-ea"/>
                <a:ea typeface="+mn-ea"/>
                <a:cs typeface="+mn-ea"/>
              </a:rPr>
              <a:t> 천이다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TSEP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PN </a:t>
            </a:r>
            <a:r>
              <a:rPr lang="ko-KR" altLang="en-US" dirty="0">
                <a:latin typeface="+mn-ea"/>
                <a:ea typeface="+mn-ea"/>
                <a:cs typeface="+mn-ea"/>
              </a:rPr>
              <a:t>접합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forward voltage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k-factor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센서 없이 온도를 추정한다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 상태 전압은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스위칭·공통모드</a:t>
            </a:r>
            <a:r>
              <a:rPr lang="ko-KR" altLang="en-US" dirty="0">
                <a:latin typeface="+mn-ea"/>
                <a:ea typeface="+mn-ea"/>
                <a:cs typeface="+mn-ea"/>
              </a:rPr>
              <a:t> 노이즈에 취약하다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절대값 대신 상대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증가량을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보면 전류 정보만으로 추정된다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보조회로 인덕터 전류의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시상수</a:t>
            </a:r>
            <a:r>
              <a:rPr lang="ko-KR" altLang="en-US" dirty="0">
                <a:latin typeface="+mn-ea"/>
                <a:ea typeface="+mn-ea"/>
                <a:cs typeface="+mn-ea"/>
              </a:rPr>
              <a:t> 변화로 온라인 추정한다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등가회로 특성이 소자 종류와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on/off</a:t>
            </a:r>
            <a:r>
              <a:rPr lang="ko-KR" altLang="en-US" dirty="0">
                <a:latin typeface="+mn-ea"/>
                <a:ea typeface="+mn-ea"/>
                <a:cs typeface="+mn-ea"/>
              </a:rPr>
              <a:t>에 무관해 범용으로 쓸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게이트 누설 전류는 절연체 균열로 게이트 저항이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유한해지며</a:t>
            </a:r>
            <a:r>
              <a:rPr lang="ko-KR" altLang="en-US" dirty="0">
                <a:latin typeface="+mn-ea"/>
                <a:ea typeface="+mn-ea"/>
                <a:cs typeface="+mn-ea"/>
              </a:rPr>
              <a:t> 증가한다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cs typeface="+mn-ea"/>
              </a:rPr>
              <a:t>전류가 작아</a:t>
            </a:r>
            <a:r>
              <a:rPr lang="ko-KR" altLang="en-US" dirty="0">
                <a:latin typeface="+mn-ea"/>
                <a:ea typeface="+mn-ea"/>
                <a:cs typeface="+mn-ea"/>
              </a:rPr>
              <a:t> 적분해 펄스로 바꾸면 고성능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ADC</a:t>
            </a:r>
            <a:r>
              <a:rPr lang="ko-KR" altLang="en-US" dirty="0">
                <a:latin typeface="+mn-ea"/>
                <a:ea typeface="+mn-ea"/>
                <a:cs typeface="+mn-ea"/>
              </a:rPr>
              <a:t>가 필요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duty cycle </a:t>
            </a:r>
            <a:r>
              <a:rPr lang="ko-KR" altLang="en-US" dirty="0">
                <a:latin typeface="+mn-ea"/>
                <a:ea typeface="+mn-ea"/>
                <a:cs typeface="+mn-ea"/>
              </a:rPr>
              <a:t>의존이 한계이며 보정이 필요하다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drift region</a:t>
            </a:r>
            <a:r>
              <a:rPr lang="ko-KR" altLang="en-US" dirty="0">
                <a:latin typeface="+mn-ea"/>
                <a:ea typeface="+mn-ea"/>
                <a:cs typeface="+mn-ea"/>
              </a:rPr>
              <a:t>을 얇게 하면 효율은 오르나 기계적 안정성이 내려간다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+mn-ea"/>
                <a:ea typeface="+mn-ea"/>
                <a:cs typeface="+mn-ea"/>
              </a:rPr>
              <a:t>3일차 · 다중물리·</a:t>
            </a:r>
            <a:r>
              <a:rPr lang="en-US" altLang="ko-KR" sz="2800" dirty="0">
                <a:latin typeface="Times New Roman"/>
                <a:ea typeface="+mn-ea"/>
                <a:cs typeface="Times New Roman"/>
              </a:rPr>
              <a:t>AI </a:t>
            </a:r>
            <a:r>
              <a:rPr lang="ko-KR" altLang="en-US" sz="2800" dirty="0">
                <a:latin typeface="+mn-ea"/>
                <a:ea typeface="+mn-ea"/>
                <a:cs typeface="+mn-ea"/>
              </a:rPr>
              <a:t>반도체 패키지 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+mn-ea"/>
                <a:ea typeface="+mn-ea"/>
                <a:cs typeface="+mn-ea"/>
              </a:rPr>
              <a:t>하나의 값 추이로는 원인을 가릴 수 없다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접합부는 반복 하중으로 피로가, 화학물질로 부식이 쌓인다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겉이 멀쩡해도 내부에서 부식이 진행된다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결함이 있으면 동작 주파수가 높을수록 신호 저하가 커진다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부식이 70 %까지 가도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DC </a:t>
            </a:r>
            <a:r>
              <a:rPr lang="ko-KR" altLang="en-US" dirty="0">
                <a:latin typeface="+mn-ea"/>
                <a:ea typeface="+mn-ea"/>
                <a:cs typeface="+mn-ea"/>
              </a:rPr>
              <a:t>저항은 0.60 → 0.65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Ω</a:t>
            </a:r>
            <a:r>
              <a:rPr lang="ko-KR" altLang="en-US" dirty="0">
                <a:latin typeface="+mn-ea"/>
                <a:ea typeface="+mn-ea"/>
                <a:cs typeface="+mn-ea"/>
              </a:rPr>
              <a:t> 로 거의 </a:t>
            </a:r>
            <a:r>
              <a:rPr lang="ko-KR" altLang="en-US" dirty="0">
                <a:latin typeface="+mn-ea"/>
                <a:cs typeface="+mn-ea"/>
              </a:rPr>
              <a:t>변하지 않는</a:t>
            </a:r>
            <a:r>
              <a:rPr lang="ko-KR" altLang="en-US" dirty="0">
                <a:latin typeface="+mn-ea"/>
                <a:ea typeface="+mn-ea"/>
                <a:cs typeface="+mn-ea"/>
              </a:rPr>
              <a:t>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단일 파라미터로는 성능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예측·진행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추적·원인</a:t>
            </a:r>
            <a:r>
              <a:rPr lang="ko-KR" altLang="en-US" dirty="0">
                <a:latin typeface="+mn-ea"/>
                <a:ea typeface="+mn-ea"/>
                <a:cs typeface="+mn-ea"/>
              </a:rPr>
              <a:t> 규명을 </a:t>
            </a:r>
            <a:r>
              <a:rPr lang="ko-KR" altLang="en-US" dirty="0">
                <a:latin typeface="+mn-ea"/>
                <a:cs typeface="+mn-ea"/>
              </a:rPr>
              <a:t>동시에 만족하지 못한다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DC </a:t>
            </a:r>
            <a:r>
              <a:rPr lang="ko-KR" altLang="en-US" dirty="0">
                <a:latin typeface="+mn-ea"/>
                <a:ea typeface="+mn-ea"/>
                <a:cs typeface="+mn-ea"/>
              </a:rPr>
              <a:t>저항에서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RF </a:t>
            </a:r>
            <a:r>
              <a:rPr lang="ko-KR" altLang="en-US" dirty="0">
                <a:latin typeface="+mn-ea"/>
                <a:ea typeface="+mn-ea"/>
                <a:cs typeface="+mn-ea"/>
              </a:rPr>
              <a:t>임피던스,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eye diagram</a:t>
            </a:r>
            <a:r>
              <a:rPr lang="ko-KR" altLang="en-US" dirty="0">
                <a:latin typeface="+mn-ea"/>
                <a:ea typeface="+mn-ea"/>
                <a:cs typeface="+mn-ea"/>
              </a:rPr>
              <a:t>까지 왔으나 한계가 같다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고장인지 환경 변화인지 가릴 수 없고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노이즈·공진에</a:t>
            </a:r>
            <a:r>
              <a:rPr lang="ko-KR" altLang="en-US" dirty="0">
                <a:latin typeface="+mn-ea"/>
                <a:ea typeface="+mn-ea"/>
                <a:cs typeface="+mn-ea"/>
              </a:rPr>
              <a:t> 취약하다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 패턴은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임피던스·저항·용량을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한 번에 담는다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패턴은 열화의 진행까지 추적한다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온도가 오르면 열팽창으로 형상이 변해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S21</a:t>
            </a:r>
            <a:r>
              <a:rPr lang="ko-KR" altLang="en-US" dirty="0">
                <a:latin typeface="+mn-ea"/>
                <a:ea typeface="+mn-ea"/>
                <a:cs typeface="+mn-ea"/>
              </a:rPr>
              <a:t>의 인덕턴스가 달라진다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열 요소를 넣은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SPICE </a:t>
            </a:r>
            <a:r>
              <a:rPr lang="ko-KR" altLang="en-US" dirty="0">
                <a:latin typeface="+mn-ea"/>
                <a:ea typeface="+mn-ea"/>
                <a:cs typeface="+mn-ea"/>
              </a:rPr>
              <a:t>모델은 실험값과 0.05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dB </a:t>
            </a:r>
            <a:r>
              <a:rPr lang="ko-KR" altLang="en-US" dirty="0">
                <a:latin typeface="+mn-ea"/>
                <a:ea typeface="+mn-ea"/>
                <a:cs typeface="+mn-ea"/>
              </a:rPr>
              <a:t>이내로 맞는다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본드 힐 균열은 3,878주기에 공진 피크로 잡혀 저주파로 이동한다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3일차 · 다중물리·</a:t>
            </a:r>
            <a:r>
              <a:rPr lang="en-US" altLang="ko-KR" sz="2800">
                <a:latin typeface="Times New Roman"/>
                <a:ea typeface="+mn-ea"/>
                <a:cs typeface="Times New Roman"/>
              </a:rPr>
              <a:t>AI </a:t>
            </a:r>
            <a:r>
              <a:rPr lang="ko-KR" altLang="en-US" sz="2800">
                <a:latin typeface="+mn-ea"/>
                <a:ea typeface="+mn-ea"/>
                <a:cs typeface="+mn-ea"/>
              </a:rPr>
              <a:t>반도체 패키지 진단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dirty="0">
                <a:latin typeface="+mn-ea"/>
                <a:cs typeface="+mn-ea"/>
              </a:rPr>
              <a:t>원인별 </a:t>
            </a:r>
            <a:r>
              <a:rPr lang="en-US" altLang="ko-KR" dirty="0">
                <a:latin typeface="+mn-ea"/>
                <a:cs typeface="+mn-ea"/>
              </a:rPr>
              <a:t>S-</a:t>
            </a:r>
            <a:r>
              <a:rPr lang="ko-KR" altLang="en-US" dirty="0">
                <a:latin typeface="+mn-ea"/>
                <a:cs typeface="+mn-ea"/>
              </a:rPr>
              <a:t>파라미터 패턴 변화</a:t>
            </a:r>
            <a:endParaRPr lang="ko-KR" altLang="en-US" sz="2000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원인과 심각도가 다르면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 패턴도 다르게 나타난다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Cu </a:t>
            </a:r>
            <a:r>
              <a:rPr lang="ko-KR" altLang="en-US" dirty="0">
                <a:latin typeface="+mn-ea"/>
                <a:ea typeface="+mn-ea"/>
                <a:cs typeface="+mn-ea"/>
              </a:rPr>
              <a:t>시편은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t-SNE(</a:t>
            </a:r>
            <a:r>
              <a:rPr lang="ko-KR" altLang="en-US" dirty="0">
                <a:latin typeface="Times New Roman"/>
                <a:ea typeface="+mn-ea"/>
                <a:cs typeface="Times New Roman"/>
              </a:rPr>
              <a:t>비선형 차원 축소 기법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)</a:t>
            </a:r>
            <a:r>
              <a:rPr lang="ko-KR" altLang="en-US" dirty="0">
                <a:latin typeface="+mn-ea"/>
                <a:ea typeface="+mn-ea"/>
                <a:cs typeface="+mn-ea"/>
              </a:rPr>
              <a:t>에서, 그림의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ITO </a:t>
            </a:r>
            <a:r>
              <a:rPr lang="ko-KR" altLang="en-US" dirty="0">
                <a:latin typeface="+mn-ea"/>
                <a:ea typeface="+mn-ea"/>
                <a:cs typeface="+mn-ea"/>
              </a:rPr>
              <a:t>시편은 곡선에서 원인별로 갈린다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부식 정량화는 </a:t>
            </a:r>
            <a:r>
              <a:rPr lang="en-US" altLang="ko-KR" dirty="0">
                <a:latin typeface="+mn-ea"/>
                <a:ea typeface="+mn-ea"/>
                <a:cs typeface="+mn-ea"/>
              </a:rPr>
              <a:t>case study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21개 모델 중 기본 선형 회귀 모델의 정확도가 가장 높았다</a:t>
            </a:r>
            <a:endParaRPr lang="en-US" altLang="ko-KR" dirty="0">
              <a:latin typeface="+mn-ea"/>
              <a:ea typeface="+mn-ea"/>
              <a:cs typeface="+mn-ea"/>
            </a:endParaRPr>
          </a:p>
          <a:p>
            <a:pPr lvl="2">
              <a:defRPr/>
            </a:pPr>
            <a:r>
              <a:rPr lang="en-US" altLang="ko-KR" dirty="0">
                <a:latin typeface="+mn-ea"/>
                <a:cs typeface="+mn-ea"/>
              </a:rPr>
              <a:t>Cu </a:t>
            </a:r>
            <a:r>
              <a:rPr lang="ko-KR" altLang="en-US" dirty="0">
                <a:latin typeface="+mn-ea"/>
                <a:cs typeface="+mn-ea"/>
              </a:rPr>
              <a:t>부식 데이터의 경향성이 선형성을 띄고 있었기 때문으로 예상한다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S-</a:t>
            </a:r>
            <a:r>
              <a:rPr lang="ko-KR" altLang="en-US" dirty="0">
                <a:latin typeface="+mn-ea"/>
                <a:ea typeface="+mn-ea"/>
                <a:cs typeface="+mn-ea"/>
              </a:rPr>
              <a:t>파라미터만으로 부식을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비침습</a:t>
            </a:r>
            <a:r>
              <a:rPr lang="ko-KR" altLang="en-US" dirty="0">
                <a:latin typeface="+mn-ea"/>
                <a:ea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시각화할</a:t>
            </a:r>
            <a:r>
              <a:rPr lang="ko-KR" altLang="en-US" dirty="0">
                <a:latin typeface="+mn-ea"/>
                <a:ea typeface="+mn-ea"/>
                <a:cs typeface="+mn-ea"/>
              </a:rPr>
              <a:t>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5" name="그림 9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관통 주제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 dirty="0">
                <a:latin typeface="+mn-ea"/>
                <a:ea typeface="+mn-ea"/>
                <a:cs typeface="+mn-ea"/>
              </a:rPr>
              <a:t>열관리와 </a:t>
            </a:r>
            <a:r>
              <a:rPr lang="ko-KR" altLang="en-US" sz="2000" dirty="0" err="1">
                <a:latin typeface="+mn-ea"/>
                <a:ea typeface="+mn-ea"/>
                <a:cs typeface="+mn-ea"/>
              </a:rPr>
              <a:t>열설계</a:t>
            </a:r>
            <a:r>
              <a:rPr lang="ko-KR" altLang="en-US" sz="2000" dirty="0">
                <a:latin typeface="+mn-ea"/>
                <a:ea typeface="+mn-ea"/>
                <a:cs typeface="+mn-ea"/>
              </a:rPr>
              <a:t> 최적화에 대한 병목 해결</a:t>
            </a:r>
            <a:endParaRPr lang="ko-KR" altLang="en-US" sz="2000" dirty="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42145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열은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모터·배터리·반도체를</a:t>
            </a:r>
            <a:r>
              <a:rPr lang="ko-KR" altLang="en-US" dirty="0">
                <a:latin typeface="+mn-ea"/>
                <a:ea typeface="+mn-ea"/>
                <a:cs typeface="+mn-ea"/>
              </a:rPr>
              <a:t> 관통하는 공통 고장 인자다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출력을 올리는 길은 어디서나 열에서 먼저 막힌다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cs typeface="+mn-ea"/>
              </a:rPr>
              <a:t>실제 수명을 결정하는 지점</a:t>
            </a:r>
            <a:r>
              <a:rPr lang="ko-KR" altLang="en-US" dirty="0">
                <a:latin typeface="+mn-ea"/>
                <a:ea typeface="+mn-ea"/>
                <a:cs typeface="+mn-ea"/>
              </a:rPr>
              <a:t>은 계측이 불가능하다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권선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핫스팟도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칩 접합부 온도도 직접 잴 수 없다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못 재는 것을 무엇으로 대신하느냐가 이 분야의 실제 문제다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단일 값은 </a:t>
            </a:r>
            <a:r>
              <a:rPr lang="ko-KR" altLang="en-US" dirty="0">
                <a:latin typeface="+mn-ea"/>
                <a:cs typeface="+mn-ea"/>
              </a:rPr>
              <a:t>모든 분야에서 한계를 드러냈고</a:t>
            </a:r>
            <a:r>
              <a:rPr lang="en-US" altLang="ko-KR" dirty="0">
                <a:latin typeface="+mn-ea"/>
                <a:cs typeface="+mn-ea"/>
              </a:rPr>
              <a:t>, </a:t>
            </a:r>
            <a:r>
              <a:rPr lang="ko-KR" altLang="en-US" dirty="0">
                <a:latin typeface="+mn-ea"/>
                <a:cs typeface="+mn-ea"/>
              </a:rPr>
              <a:t>패턴이나 지도록 바꾼 뒤 판별되었다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80" name="표 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678794"/>
              </p:ext>
            </p:extLst>
          </p:nvPr>
        </p:nvGraphicFramePr>
        <p:xfrm>
          <a:off x="548640" y="3749040"/>
          <a:ext cx="8046720" cy="2834640"/>
        </p:xfrm>
        <a:graphic>
          <a:graphicData uri="http://schemas.openxmlformats.org/drawingml/2006/table">
            <a:tbl>
              <a:tblPr firstRow="1" firstCol="1" band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9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63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분야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지배 열 인자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측정 대상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+mn-ea"/>
                          <a:ea typeface="+mn-ea"/>
                          <a:cs typeface="+mn-ea"/>
                        </a:rPr>
                        <a:t>대체 지표</a:t>
                      </a:r>
                      <a:endParaRPr lang="ko-KR" altLang="en-US" sz="1200" b="1" dirty="0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모터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권선 핫스팟, 자석 감자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냉각수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하우징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냉각 구조로 미룬다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로봇 액추에이터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권선 핫스팟, 전폐형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케이스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전도 경로 설계와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Potting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배터리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BMS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가 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SOC·SOH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로 출력을 조절한다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반도체 패키징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과도 열응답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구조함수로 층 위치를 역추적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전력반도체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온 상태 전압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전류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defRPr/>
                      </a:pP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상대 </a:t>
                      </a:r>
                      <a:r>
                        <a:rPr lang="ko-KR" altLang="en-US" sz="1100" dirty="0" err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증가량으로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</a:t>
                      </a:r>
                      <a:r>
                        <a:rPr lang="ko-KR" altLang="en-US" sz="1100" dirty="0" err="1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열화량을</a:t>
                      </a:r>
                      <a:r>
                        <a:rPr lang="ko-KR" altLang="en-US" sz="1100" dirty="0">
                          <a:solidFill>
                            <a:srgbClr val="101010"/>
                          </a:solidFill>
                          <a:latin typeface="+mn-ea"/>
                          <a:ea typeface="+mn-ea"/>
                          <a:cs typeface="+mn-ea"/>
                        </a:rPr>
                        <a:t> 본다</a:t>
                      </a:r>
                      <a:endParaRPr lang="ko-KR" altLang="en-US" sz="1100" dirty="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+mn-ea"/>
                <a:ea typeface="+mn-ea"/>
                <a:cs typeface="+mn-ea"/>
              </a:rPr>
              <a:t>적용 계획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+mn-ea"/>
                <a:ea typeface="+mn-ea"/>
                <a:cs typeface="+mn-ea"/>
              </a:rPr>
              <a:t>강좌에서 무엇을 가져와 어디에 쓸 것인가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946550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유망사업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 dirty="0">
                <a:latin typeface="+mn-ea"/>
                <a:ea typeface="+mn-ea"/>
                <a:cs typeface="+mn-ea"/>
              </a:rPr>
              <a:t> 미지 전동력기기의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제로샷</a:t>
            </a:r>
            <a:r>
              <a:rPr lang="ko-KR" altLang="en-US" dirty="0">
                <a:latin typeface="+mn-ea"/>
                <a:ea typeface="+mn-ea"/>
                <a:cs typeface="+mn-ea"/>
              </a:rPr>
              <a:t> 자율화 (</a:t>
            </a:r>
            <a:r>
              <a:rPr lang="en-US" altLang="ko-KR" dirty="0" err="1">
                <a:latin typeface="Times New Roman"/>
                <a:ea typeface="+mn-ea"/>
                <a:cs typeface="Times New Roman"/>
              </a:rPr>
              <a:t>SDx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 </a:t>
            </a:r>
            <a:r>
              <a:rPr lang="ko-KR" altLang="en-US" dirty="0">
                <a:latin typeface="+mn-ea"/>
                <a:ea typeface="+mn-ea"/>
                <a:cs typeface="+mn-ea"/>
              </a:rPr>
              <a:t>동력 파운데이션 모델)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전류에 실리는 결함 유형을 가려 자가진단 대상을 확정한다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기준값이</a:t>
            </a:r>
            <a:r>
              <a:rPr lang="ko-KR" altLang="en-US" dirty="0">
                <a:latin typeface="+mn-ea"/>
                <a:ea typeface="+mn-ea"/>
                <a:cs typeface="+mn-ea"/>
              </a:rPr>
              <a:t> 없으므로 절대값 대신 상대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증가량을</a:t>
            </a:r>
            <a:r>
              <a:rPr lang="ko-KR" altLang="en-US" dirty="0">
                <a:latin typeface="+mn-ea"/>
                <a:ea typeface="+mn-ea"/>
                <a:cs typeface="+mn-ea"/>
              </a:rPr>
              <a:t> 지표로 삼는다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IE4 </a:t>
            </a:r>
            <a:r>
              <a:rPr lang="ko-KR" altLang="en-US" dirty="0">
                <a:latin typeface="+mn-ea"/>
                <a:ea typeface="+mn-ea"/>
                <a:cs typeface="+mn-ea"/>
              </a:rPr>
              <a:t>데이터 - </a:t>
            </a:r>
            <a:r>
              <a:rPr lang="ko-KR" altLang="en-US" dirty="0">
                <a:latin typeface="+mn-ea"/>
                <a:cs typeface="+mn-ea"/>
              </a:rPr>
              <a:t>수집</a:t>
            </a:r>
            <a:r>
              <a:rPr lang="ko-KR" altLang="en-US" dirty="0">
                <a:latin typeface="+mn-ea"/>
                <a:ea typeface="+mn-ea"/>
                <a:cs typeface="+mn-ea"/>
              </a:rPr>
              <a:t> 채널을 늘려 </a:t>
            </a:r>
            <a:r>
              <a:rPr lang="ko-KR" altLang="en-US" dirty="0">
                <a:latin typeface="+mn-ea"/>
                <a:cs typeface="+mn-ea"/>
              </a:rPr>
              <a:t>진단 가능한 고장 범위를 넓힌다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전류·온도</a:t>
            </a:r>
            <a:r>
              <a:rPr lang="ko-KR" altLang="en-US" dirty="0">
                <a:latin typeface="+mn-ea"/>
                <a:ea typeface="+mn-ea"/>
                <a:cs typeface="+mn-ea"/>
              </a:rPr>
              <a:t> 데이터가 제공되는지 확인하고 파싱 대상에 넣는다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전류에 같은 신호처리를 걸어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회전자</a:t>
            </a:r>
            <a:r>
              <a:rPr lang="ko-KR" altLang="en-US" dirty="0">
                <a:latin typeface="+mn-ea"/>
                <a:ea typeface="+mn-ea"/>
                <a:cs typeface="+mn-ea"/>
              </a:rPr>
              <a:t> 결함이 잡히는지 본다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 err="1">
                <a:latin typeface="+mn-ea"/>
                <a:ea typeface="+mn-ea"/>
                <a:cs typeface="+mn-ea"/>
              </a:rPr>
              <a:t>동손</a:t>
            </a:r>
            <a:r>
              <a:rPr lang="ko-KR" altLang="en-US" dirty="0" err="1">
                <a:latin typeface="+mn-ea"/>
                <a:cs typeface="+mn-ea"/>
              </a:rPr>
              <a:t>과</a:t>
            </a:r>
            <a:r>
              <a:rPr lang="ko-KR" altLang="en-US" dirty="0">
                <a:latin typeface="+mn-ea"/>
                <a:cs typeface="+mn-ea"/>
              </a:rPr>
              <a:t> </a:t>
            </a:r>
            <a:r>
              <a:rPr lang="ko-KR" altLang="en-US" dirty="0" err="1">
                <a:latin typeface="+mn-ea"/>
                <a:ea typeface="+mn-ea"/>
                <a:cs typeface="+mn-ea"/>
              </a:rPr>
              <a:t>철손</a:t>
            </a:r>
            <a:r>
              <a:rPr lang="ko-KR" altLang="en-US" dirty="0">
                <a:latin typeface="+mn-ea"/>
                <a:ea typeface="+mn-ea"/>
                <a:cs typeface="+mn-ea"/>
              </a:rPr>
              <a:t> 중 </a:t>
            </a:r>
            <a:r>
              <a:rPr lang="ko-KR" altLang="en-US" dirty="0">
                <a:latin typeface="+mn-ea"/>
                <a:cs typeface="+mn-ea"/>
              </a:rPr>
              <a:t>온도 상승을 지배하는 손실을 가려 성능 영향을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MCP </a:t>
            </a:r>
            <a:r>
              <a:rPr lang="ko-KR" altLang="en-US" dirty="0">
                <a:latin typeface="+mn-ea"/>
                <a:ea typeface="+mn-ea"/>
                <a:cs typeface="+mn-ea"/>
              </a:rPr>
              <a:t>기반 자동화 - 만드는 과정이 재현될 때만 쓸 수 있다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 dirty="0">
                <a:latin typeface="Times New Roman"/>
                <a:ea typeface="+mn-ea"/>
                <a:cs typeface="Times New Roman"/>
              </a:rPr>
              <a:t>CLAUDE.md</a:t>
            </a:r>
            <a:r>
              <a:rPr lang="ko-KR" altLang="en-US" dirty="0">
                <a:latin typeface="+mn-ea"/>
                <a:ea typeface="+mn-ea"/>
                <a:cs typeface="+mn-ea"/>
              </a:rPr>
              <a:t>와 </a:t>
            </a:r>
            <a:r>
              <a:rPr lang="en-US" altLang="ko-KR" dirty="0">
                <a:latin typeface="Times New Roman"/>
                <a:ea typeface="+mn-ea"/>
                <a:cs typeface="Times New Roman"/>
              </a:rPr>
              <a:t>MCP</a:t>
            </a:r>
            <a:r>
              <a:rPr lang="ko-KR" altLang="en-US" dirty="0">
                <a:latin typeface="+mn-ea"/>
                <a:ea typeface="+mn-ea"/>
                <a:cs typeface="+mn-ea"/>
              </a:rPr>
              <a:t>로 결정론적 작업을 코드에, 판단만 에이전트에 맡긴다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 dirty="0">
                <a:latin typeface="+mn-ea"/>
                <a:ea typeface="+mn-ea"/>
                <a:cs typeface="+mn-ea"/>
              </a:rPr>
              <a:t>에이전트가 산출한 값과 이론 값을 비교하여 오차 정도를 분석한다</a:t>
            </a:r>
            <a:endParaRPr lang="ko-KR" altLang="en-US" dirty="0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14B569-FDD7-4F69-AC2D-0543B60ABDF3}"/>
              </a:ext>
            </a:extLst>
          </p:cNvPr>
          <p:cNvSpPr txBox="1"/>
          <p:nvPr/>
        </p:nvSpPr>
        <p:spPr>
          <a:xfrm>
            <a:off x="2032000" y="4257040"/>
            <a:ext cx="500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latin typeface="+mn-ea"/>
                <a:ea typeface="+mn-ea"/>
                <a:cs typeface="+mn-ea"/>
              </a:rPr>
              <a:t>기업과 함께 성장하는 최고의 파트너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EF21BE-8EB8-4484-A6E9-8C5E06312AC5}"/>
              </a:ext>
            </a:extLst>
          </p:cNvPr>
          <p:cNvSpPr txBox="1"/>
          <p:nvPr/>
        </p:nvSpPr>
        <p:spPr>
          <a:xfrm>
            <a:off x="1807210" y="4590400"/>
            <a:ext cx="5504180" cy="469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>
                <a:latin typeface="+mn-ea"/>
                <a:ea typeface="+mn-ea"/>
                <a:cs typeface="+mn-ea"/>
              </a:rPr>
              <a:t>전자</a:t>
            </a:r>
            <a:r>
              <a:rPr lang="en-US" altLang="ko-KR" sz="2400" b="1" dirty="0">
                <a:latin typeface="Times New Roman"/>
                <a:ea typeface="+mn-ea"/>
                <a:cs typeface="Times New Roman"/>
              </a:rPr>
              <a:t>∙IT</a:t>
            </a:r>
            <a:r>
              <a:rPr lang="ko-KR" altLang="en-US" sz="2400" b="1" dirty="0">
                <a:latin typeface="+mn-ea"/>
                <a:ea typeface="+mn-ea"/>
                <a:cs typeface="+mn-ea"/>
              </a:rPr>
              <a:t>분야 글로벌 전문생산연구기관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165861356"/>
      </p:ext>
    </p:extLst>
  </p:cSld>
  <p:clrMapOvr>
    <a:masterClrMapping/>
  </p:clrMapOvr>
</p:sld>
</file>

<file path=ppt/theme/theme1.xml><?xml version="1.0" encoding="utf-8"?>
<a:theme xmlns:a="http://schemas.openxmlformats.org/drawingml/2006/main" name="4_Hanyang_CNR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NR_HYU">
      <a:majorFont>
        <a:latin typeface="Arial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2478</Words>
  <Application>Microsoft Office PowerPoint</Application>
  <PresentationFormat>화면 슬라이드 쇼(4:3)</PresentationFormat>
  <Paragraphs>301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3" baseType="lpstr">
      <vt:lpstr>AppleGothic</vt:lpstr>
      <vt:lpstr>KoPub돋움체 Bold</vt:lpstr>
      <vt:lpstr>맑은 고딕</vt:lpstr>
      <vt:lpstr>Arial</vt:lpstr>
      <vt:lpstr>Courier New</vt:lpstr>
      <vt:lpstr>Tahoma</vt:lpstr>
      <vt:lpstr>Times New Roman</vt:lpstr>
      <vt:lpstr>Wingdings</vt:lpstr>
      <vt:lpstr>4_Hanyang_CNR Template</vt:lpstr>
      <vt:lpstr>PowerPoint 프레젠테이션</vt:lpstr>
      <vt:lpstr>1일차 · PHM and FMEA for physical AI</vt:lpstr>
      <vt:lpstr>1일차 · PHM and FMEA for physical AI</vt:lpstr>
      <vt:lpstr>1일차 · Agentic AI 기초와 공학 적용</vt:lpstr>
      <vt:lpstr>1일차 · VLA 기반 협동로봇 작업 수행</vt:lpstr>
      <vt:lpstr>1일차 · 제조 설비 데이터 특성과 상태진단</vt:lpstr>
      <vt:lpstr>1일차 · 제조 설비 데이터 특성과 상태진단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베어링 진단을 위한 기초</vt:lpstr>
      <vt:lpstr>2일차 · 모터 베어링 진단을 위한 기초</vt:lpstr>
      <vt:lpstr>2일차 · 감속기 진단을 위한 신호처리 기법</vt:lpstr>
      <vt:lpstr>2일차 · 배터리 SOC/SOH 실전 가이드</vt:lpstr>
      <vt:lpstr>2일차 · 배터리 SOC/SOH 실전 가이드</vt:lpstr>
      <vt:lpstr>3일차 · 반도체 패키징 열-기계 PHM</vt:lpstr>
      <vt:lpstr>3일차 · 전력반도체 열화 감시 회로</vt:lpstr>
      <vt:lpstr>3일차 · 다중물리·AI 반도체 패키지 진단</vt:lpstr>
      <vt:lpstr>3일차 · 다중물리·AI 반도체 패키지 진단</vt:lpstr>
      <vt:lpstr>관통 주제</vt:lpstr>
      <vt:lpstr>적용 계획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하모닉 감속기의 중공경 확대/박형화/경량화 및 성능 예측/관리가 가능한 설계/제조 기술 개발</dc:title>
  <dc:creator>user</dc:creator>
  <cp:lastModifiedBy>Yongbeen Kim</cp:lastModifiedBy>
  <cp:revision>1207</cp:revision>
  <dcterms:created xsi:type="dcterms:W3CDTF">2020-02-07T05:42:17Z</dcterms:created>
  <dcterms:modified xsi:type="dcterms:W3CDTF">2026-08-24T04:25:39Z</dcterms:modified>
  <cp:version/>
</cp:coreProperties>
</file>