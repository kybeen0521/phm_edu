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firstSlideNum="0">
  <p:sldMasterIdLst>
    <p:sldMasterId id="2147483672" r:id="rId1"/>
  </p:sldMasterIdLst>
  <p:notesMasterIdLst>
    <p:notesMasterId r:id="rId2"/>
  </p:notesMasterIdLst>
  <p:sldIdLst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1" r:id="rId23"/>
    <p:sldId id="322" r:id="rId24"/>
    <p:sldId id="323" r:id="rId25"/>
    <p:sldId id="324" r:id="rId26"/>
  </p:sldIdLst>
  <p:sldSz cx="9144000" cy="6858000" type="screen4x3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보통 스타일 4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TxStyle/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9980" autoAdjust="0"/>
    <p:restoredTop sz="86434" autoAdjust="0"/>
  </p:normalViewPr>
  <p:slideViewPr>
    <p:cSldViewPr snapToGrid="0">
      <p:cViewPr varScale="1">
        <p:scale>
          <a:sx n="100" d="100"/>
          <a:sy n="100" d="100"/>
        </p:scale>
        <p:origin x="132" y="744"/>
      </p:cViewPr>
      <p:guideLst>
        <p:guide orient="horz" pos="2149"/>
        <p:guide pos="287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12" d="100"/>
          <a:sy n="112" d="100"/>
        </p:scale>
        <p:origin x="4568" y="60"/>
      </p:cViewPr>
    </p:cSldViewPr>
  </p:notes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presProps" Target="presProps.xml"  /><Relationship Id="rId28" Type="http://schemas.openxmlformats.org/officeDocument/2006/relationships/viewProps" Target="viewProps.xml"  /><Relationship Id="rId29" Type="http://schemas.openxmlformats.org/officeDocument/2006/relationships/theme" Target="theme/theme1.xml"  /><Relationship Id="rId3" Type="http://schemas.openxmlformats.org/officeDocument/2006/relationships/slide" Target="slides/slide1.xml"  /><Relationship Id="rId30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7" rIns="99075" bIns="49537"/>
          <a:lstStyle>
            <a:lvl1pPr algn="r">
              <a:defRPr sz="1300"/>
            </a:lvl1pPr>
          </a:lstStyle>
          <a:p>
            <a:pPr lvl="0">
              <a:defRPr/>
            </a:pPr>
            <a:fld id="{F60DB9E1-F724-4AEF-94F3-979F419CD24E}" type="datetime1">
              <a:rPr lang="ko-KR" altLang="en-US"/>
              <a:pPr lvl="0">
                <a:defRPr/>
              </a:pPr>
              <a:t>2026-08-23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249363" y="1279525"/>
            <a:ext cx="46053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7" rIns="99075" bIns="49537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7" rIns="99075" bIns="49537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l">
              <a:defRPr sz="13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7" rIns="99075" bIns="49537" anchor="b"/>
          <a:lstStyle>
            <a:lvl1pPr algn="r">
              <a:defRPr sz="1300"/>
            </a:lvl1pPr>
          </a:lstStyle>
          <a:p>
            <a:pPr lvl="0">
              <a:defRPr/>
            </a:pPr>
            <a:fld id="{2EB2E323-9633-421C-861B-0355BBDFA3A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2.png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2.png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2.png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2.png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3.png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4">
            <a:extLst>
              <a:ext uri="{FF2B5EF4-FFF2-40B4-BE49-F238E27FC236}">
                <a16:creationId xmlns:a16="http://schemas.microsoft.com/office/drawing/2014/main" id="{D03D4E91-BEC6-44D9-900C-8AF738C79081}"/>
              </a:ext>
            </a:extLst>
          </p:cNvPr>
          <p:cNvSpPr/>
          <p:nvPr userDrawn="1"/>
        </p:nvSpPr>
        <p:spPr>
          <a:xfrm>
            <a:off x="0" y="1412776"/>
            <a:ext cx="9144000" cy="217201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0"/>
                </a:schemeClr>
              </a:gs>
              <a:gs pos="23000">
                <a:schemeClr val="accent1">
                  <a:lumMod val="50000"/>
                </a:schemeClr>
              </a:gs>
              <a:gs pos="69000">
                <a:srgbClr val="17283D"/>
              </a:gs>
              <a:gs pos="97000">
                <a:srgbClr val="17283D"/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맑은 고딕" panose="020B0503020000020004" pitchFamily="50" charset="-127"/>
              <a:cs typeface="Tahoma" panose="020B0604030504040204" pitchFamily="34" charset="0"/>
            </a:endParaRPr>
          </a:p>
        </p:txBody>
      </p:sp>
      <p:pic>
        <p:nvPicPr>
          <p:cNvPr id="10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DAA6CB98-94E8-478E-99C2-617C47AABB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85" y="100118"/>
            <a:ext cx="1719836" cy="44478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C8E02F-59C6-40C5-8DAE-72AAAFAF02C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882275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1181745" y="150543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33" name="Text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181745" y="2241205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1" name="TextBox 130"/>
          <p:cNvSpPr txBox="1"/>
          <p:nvPr userDrawn="1"/>
        </p:nvSpPr>
        <p:spPr>
          <a:xfrm>
            <a:off x="278265" y="731670"/>
            <a:ext cx="4584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 latinLnBrk="0"/>
            <a:r>
              <a:rPr kumimoji="1" lang="en-US" altLang="ja-JP" sz="3600" b="1" spc="0" baseline="0" dirty="0">
                <a:ln w="3175">
                  <a:solidFill>
                    <a:srgbClr val="12315D">
                      <a:alpha val="5000"/>
                    </a:srgbClr>
                  </a:solidFill>
                </a:ln>
                <a:solidFill>
                  <a:srgbClr val="12315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kumimoji="1" lang="ja-JP" altLang="en-US" sz="3600" b="1" spc="0" baseline="0" dirty="0">
              <a:ln w="3175">
                <a:solidFill>
                  <a:srgbClr val="12315D">
                    <a:alpha val="5000"/>
                  </a:srgbClr>
                </a:solidFill>
              </a:ln>
              <a:solidFill>
                <a:srgbClr val="12315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0323818-3619-4336-AB8D-25B1610156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81745" y="2980781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8579CE04-80D7-4A9E-B17A-0D8B624B23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81745" y="3720357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EF7005EF-DC99-44C9-8303-FFC6795F79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81745" y="4459933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ko-KR" altLang="en-US" sz="2000" b="1" kern="1200" spc="-100" baseline="0" dirty="0" smtClean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170459E-E6FA-4C30-94F2-6AA5438BA5D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1745" y="5199509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3606C71-B61E-4CA0-ABA1-0408A8237E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81745" y="5939214"/>
            <a:ext cx="7599792" cy="4953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28575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  <a:defRPr kumimoji="1" lang="en-US" altLang="ko-KR" sz="2000" b="1" kern="1200" spc="-10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285750" lvl="0" indent="-285750" algn="l" defTabSz="457200" rtl="0" eaLnBrk="1" latinLnBrk="1" hangingPunct="1">
              <a:lnSpc>
                <a:spcPct val="100000"/>
              </a:lnSpc>
              <a:spcBef>
                <a:spcPts val="600"/>
              </a:spcBef>
              <a:buClr>
                <a:srgbClr val="12315D"/>
              </a:buClr>
              <a:buSzPct val="175000"/>
              <a:buFont typeface="Wingdings" panose="05000000000000000000" pitchFamily="2" charset="2"/>
              <a:buChar char="§"/>
            </a:pPr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FEFE06C6-DEE9-46D1-8775-D05E0761211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2A932C-DBC5-4F28-A20D-4F7D76F4CE5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628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/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8BED7173-7695-4303-A560-F701E1DE7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EC4A03-490B-47F5-8F94-380D22EC636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0987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DA71D4F8-A6AD-458D-85F0-898D8FB5CE66}"/>
              </a:ext>
            </a:extLst>
          </p:cNvPr>
          <p:cNvCxnSpPr>
            <a:cxnSpLocks/>
          </p:cNvCxnSpPr>
          <p:nvPr userDrawn="1"/>
        </p:nvCxnSpPr>
        <p:spPr>
          <a:xfrm>
            <a:off x="88900" y="6298221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220F0B2B-477D-4C80-B9CF-6807E6F6C31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900" y="6323422"/>
            <a:ext cx="8966200" cy="292350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F8429D-6A22-4925-B5A5-A60A9AFB428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1D741112-8894-493D-953A-6340D38244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80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B9CA2239-16EF-4189-AE07-999A04A0330D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5C5F1908-F10D-45B7-8929-69D6E8DB647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marL="0" marR="0" lvl="0" indent="-137160" algn="l" defTabSz="358775" rtl="0" eaLnBrk="1" fontAlgn="auto" latinLnBrk="1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+mj-lt"/>
              <a:buAutoNum type="romanLcPeriod"/>
              <a:tabLst/>
              <a:defRPr/>
            </a:pPr>
            <a:r>
              <a:rPr lang="en-US" dirty="0"/>
              <a:t>Click to edit Master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FAB4A27-A355-4506-A1F0-E55B692A4599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354506CD-D0A2-4CD8-AF48-C1B8B4954DE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205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7133B8-518E-40B9-8EFE-B88CC95F907B}"/>
              </a:ext>
            </a:extLst>
          </p:cNvPr>
          <p:cNvSpPr/>
          <p:nvPr userDrawn="1"/>
        </p:nvSpPr>
        <p:spPr>
          <a:xfrm>
            <a:off x="0" y="0"/>
            <a:ext cx="9144000" cy="633743"/>
          </a:xfrm>
          <a:prstGeom prst="rect">
            <a:avLst/>
          </a:prstGeom>
          <a:gradFill>
            <a:gsLst>
              <a:gs pos="0">
                <a:srgbClr val="17283D"/>
              </a:gs>
              <a:gs pos="8500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40000"/>
                  <a:lumOff val="60000"/>
                </a:scheme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33619"/>
            <a:ext cx="7538721" cy="567210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bg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E64BF85-1EB8-416C-ACE3-CCDE80E930C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18863A4-91CE-4461-A4CC-3E16D99C1BE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99"/>
          <a:stretch/>
        </p:blipFill>
        <p:spPr>
          <a:xfrm>
            <a:off x="8243777" y="-72794"/>
            <a:ext cx="915463" cy="5512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C35458B-252B-4309-8BF1-E902B23C0E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5"/>
          <a:stretch/>
        </p:blipFill>
        <p:spPr>
          <a:xfrm>
            <a:off x="8332644" y="294083"/>
            <a:ext cx="881342" cy="375337"/>
          </a:xfrm>
          <a:prstGeom prst="rect">
            <a:avLst/>
          </a:prstGeom>
        </p:spPr>
      </p:pic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37337A45-EED2-4B71-8497-9F87BDE38989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0C0C7261-919A-4E82-8767-BD1DD82C6A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4D4D96B-23C3-45C2-85A1-A1654276A9E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5" name="텍스트 개체 틀 2">
            <a:extLst>
              <a:ext uri="{FF2B5EF4-FFF2-40B4-BE49-F238E27FC236}">
                <a16:creationId xmlns:a16="http://schemas.microsoft.com/office/drawing/2014/main" id="{FDB145D3-0263-409E-B076-B5C2843172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9785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6498842-A507-41AB-B4C7-7D63BADD1773}"/>
              </a:ext>
            </a:extLst>
          </p:cNvPr>
          <p:cNvSpPr/>
          <p:nvPr userDrawn="1"/>
        </p:nvSpPr>
        <p:spPr>
          <a:xfrm>
            <a:off x="0" y="30093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B4DF706-D1E1-47A9-921B-B1F5B1E80E77}"/>
              </a:ext>
            </a:extLst>
          </p:cNvPr>
          <p:cNvSpPr/>
          <p:nvPr userDrawn="1"/>
        </p:nvSpPr>
        <p:spPr>
          <a:xfrm>
            <a:off x="0" y="6637747"/>
            <a:ext cx="9144000" cy="180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24000">
                <a:schemeClr val="accent1">
                  <a:lumMod val="45000"/>
                  <a:lumOff val="55000"/>
                </a:schemeClr>
              </a:gs>
              <a:gs pos="32000">
                <a:schemeClr val="accent1">
                  <a:lumMod val="45000"/>
                  <a:lumOff val="55000"/>
                </a:schemeClr>
              </a:gs>
              <a:gs pos="57000">
                <a:srgbClr val="17283D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002B941-4A73-4B97-9415-56F302F9AC05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07535" y="494904"/>
            <a:ext cx="4561840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8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4567BC81-3D62-4357-BAF5-C6126FB4D32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A33537-9888-4C5A-9280-BCC4F7E6F8C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13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B80D6E9-4CFF-4046-BC84-AFD4DFA7EB3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92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3A226F7-E173-4993-BC13-B43F9FF1D74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1" name="텍스트 개체 틀 2">
            <a:extLst>
              <a:ext uri="{FF2B5EF4-FFF2-40B4-BE49-F238E27FC236}">
                <a16:creationId xmlns:a16="http://schemas.microsoft.com/office/drawing/2014/main" id="{2AC93782-61F6-4EBB-AC25-B86DD602F0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979" y="813686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E87F3-5D68-4E3B-A46F-F58C9DEAC7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6776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DFD6DECE-B637-4BCA-832F-444AC5238594}"/>
              </a:ext>
            </a:extLst>
          </p:cNvPr>
          <p:cNvCxnSpPr>
            <a:cxnSpLocks/>
          </p:cNvCxnSpPr>
          <p:nvPr userDrawn="1"/>
        </p:nvCxnSpPr>
        <p:spPr>
          <a:xfrm>
            <a:off x="88127" y="6163469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912D980A-3F19-40EF-A1DE-A4189200464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8127" y="6188621"/>
            <a:ext cx="8966200" cy="421729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/>
              <a:t>Click to edit Master text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D9BA0FA-09F2-4DF3-88B8-6903571C4F26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F63186CF-F56B-402C-9EB5-545E9C4E84B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176F92C4-E2F4-415F-8049-9864B816D65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CE0133-145F-44EC-B9BA-DD28230A05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132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7538721" cy="653014"/>
          </a:xfrm>
          <a:prstGeom prst="rect">
            <a:avLst/>
          </a:prstGeom>
        </p:spPr>
        <p:txBody>
          <a:bodyPr/>
          <a:lstStyle>
            <a:lvl1pPr>
              <a:defRPr spc="0" baseline="0">
                <a:solidFill>
                  <a:schemeClr val="tx1"/>
                </a:solidFill>
              </a:defRPr>
            </a:lvl1pPr>
          </a:lstStyle>
          <a:p>
            <a:r>
              <a:rPr kumimoji="1" lang="en-US" altLang="ko-KR" dirty="0"/>
              <a:t>Click To Edit Master Title Style</a:t>
            </a:r>
            <a:endParaRPr kumimoji="1" lang="ja-JP" altLang="en-US" dirty="0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3E50E25C-10C3-45B1-B9CD-E2BB3B75AC2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" y="619864"/>
            <a:ext cx="9144001" cy="33814"/>
          </a:xfrm>
          <a:prstGeom prst="line">
            <a:avLst/>
          </a:prstGeom>
          <a:noFill/>
          <a:ln w="50800">
            <a:gradFill flip="none" rotWithShape="1">
              <a:gsLst>
                <a:gs pos="0">
                  <a:srgbClr val="17283D"/>
                </a:gs>
                <a:gs pos="74000">
                  <a:schemeClr val="accent1">
                    <a:lumMod val="60000"/>
                    <a:lumOff val="40000"/>
                  </a:schemeClr>
                </a:gs>
                <a:gs pos="8300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defPPr>
              <a:defRPr lang="en-US"/>
            </a:defPPr>
            <a:lvl1pPr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eaLnBrk="0" fontAlgn="base" hangingPunct="0">
              <a:lnSpc>
                <a:spcPct val="210000"/>
              </a:lnSpc>
              <a:spcBef>
                <a:spcPct val="30000"/>
              </a:spcBef>
              <a:spcAft>
                <a:spcPct val="0"/>
              </a:spcAft>
              <a:buClr>
                <a:srgbClr val="790015"/>
              </a:buClr>
              <a:buSzPct val="100000"/>
              <a:buFont typeface="Wingdings" pitchFamily="2" charset="2"/>
              <a:buChar char="§"/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b="1" kern="1200">
                <a:solidFill>
                  <a:schemeClr val="tx2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904490A5-95A1-43B5-AE47-70210A4C8771}"/>
              </a:ext>
            </a:extLst>
          </p:cNvPr>
          <p:cNvCxnSpPr>
            <a:cxnSpLocks/>
          </p:cNvCxnSpPr>
          <p:nvPr userDrawn="1"/>
        </p:nvCxnSpPr>
        <p:spPr>
          <a:xfrm>
            <a:off x="86360" y="6032967"/>
            <a:ext cx="39243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11">
            <a:extLst>
              <a:ext uri="{FF2B5EF4-FFF2-40B4-BE49-F238E27FC236}">
                <a16:creationId xmlns:a16="http://schemas.microsoft.com/office/drawing/2014/main" id="{8622DBFE-A524-4BF2-A1EE-49E091356FE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6360" y="6058167"/>
            <a:ext cx="8966200" cy="547948"/>
          </a:xfrm>
          <a:prstGeom prst="rect">
            <a:avLst/>
          </a:prstGeom>
        </p:spPr>
        <p:txBody>
          <a:bodyPr/>
          <a:lstStyle>
            <a:lvl1pPr marL="173736" indent="-173736" defTabSz="358775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+mj-lt"/>
              <a:buAutoNum type="romanLcPeriod"/>
              <a:tabLst/>
              <a:defRPr kumimoji="1" lang="en-US" sz="1000" b="0" kern="1200" spc="0" baseline="0" dirty="0">
                <a:ln w="3175">
                  <a:solidFill>
                    <a:schemeClr val="tx1">
                      <a:alpha val="7000"/>
                    </a:schemeClr>
                  </a:solidFill>
                </a:ln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8DBF3BD8-07F3-4FA5-A058-7EAE9B0067A7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73979" y="813686"/>
            <a:ext cx="7364742" cy="428769"/>
          </a:xfrm>
          <a:prstGeom prst="rect">
            <a:avLst/>
          </a:prstGeom>
          <a:noFill/>
        </p:spPr>
        <p:txBody>
          <a:bodyPr anchor="ctr">
            <a:noAutofit/>
          </a:bodyPr>
          <a:lstStyle>
            <a:lvl1pPr marL="0" indent="0" algn="l">
              <a:buNone/>
              <a:defRPr sz="2000" b="1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ko-KR" dirty="0"/>
              <a:t>Text editing</a:t>
            </a:r>
            <a:endParaRPr kumimoji="1" lang="ko-KR" altLang="en-US" dirty="0"/>
          </a:p>
        </p:txBody>
      </p:sp>
      <p:sp>
        <p:nvSpPr>
          <p:cNvPr id="13" name="텍스트 개체 틀 2">
            <a:extLst>
              <a:ext uri="{FF2B5EF4-FFF2-40B4-BE49-F238E27FC236}">
                <a16:creationId xmlns:a16="http://schemas.microsoft.com/office/drawing/2014/main" id="{74DEE620-EA0C-46D5-A798-522CA510DC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3979" y="1402463"/>
            <a:ext cx="8935720" cy="182244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맑은 고딕" panose="020B0503020000020004" pitchFamily="50" charset="-127"/>
                <a:cs typeface="Times New Roman" panose="02020603050405020304" pitchFamily="18" charset="0"/>
              </a:defRPr>
            </a:lvl1pPr>
            <a:lvl2pPr marL="540000" indent="-285750">
              <a:buFont typeface="Times New Roman" panose="02020603050405020304" pitchFamily="18" charset="0"/>
              <a:buChar char="-"/>
              <a:defRPr sz="16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2pPr>
            <a:lvl3pPr marL="748800" indent="-228600">
              <a:buClr>
                <a:schemeClr val="tx1"/>
              </a:buClr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3pPr>
            <a:lvl4pPr marL="1104300" indent="-342900">
              <a:buFont typeface="+mj-lt"/>
              <a:buAutoNum type="alphaLcPeriod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4pPr>
            <a:lvl5pPr marL="1231200" indent="-228600">
              <a:buClr>
                <a:schemeClr val="tx1"/>
              </a:buClr>
              <a:buFont typeface="Wingdings" panose="05000000000000000000" pitchFamily="2" charset="2"/>
              <a:buChar char="Ø"/>
              <a:defRPr sz="12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</a:defRPr>
            </a:lvl5pPr>
          </a:lstStyle>
          <a:p>
            <a:pPr lvl="0"/>
            <a:r>
              <a:rPr lang="en-US" altLang="ko-KR" dirty="0"/>
              <a:t>Click to edit master text styles</a:t>
            </a:r>
            <a:endParaRPr lang="ko-KR" altLang="en-US" dirty="0"/>
          </a:p>
          <a:p>
            <a:pPr lvl="1"/>
            <a:r>
              <a:rPr lang="en-US" altLang="ko-KR" dirty="0"/>
              <a:t>2nd level</a:t>
            </a:r>
            <a:endParaRPr lang="ko-KR" altLang="en-US" dirty="0"/>
          </a:p>
          <a:p>
            <a:pPr lvl="2"/>
            <a:r>
              <a:rPr lang="en-US" altLang="ko-KR" dirty="0"/>
              <a:t>3rd level</a:t>
            </a:r>
            <a:endParaRPr lang="ko-KR" altLang="en-US" dirty="0"/>
          </a:p>
          <a:p>
            <a:pPr lvl="3"/>
            <a:r>
              <a:rPr lang="en-US" altLang="ko-KR" dirty="0"/>
              <a:t>4th level</a:t>
            </a:r>
            <a:endParaRPr lang="ko-KR" altLang="en-US" dirty="0"/>
          </a:p>
          <a:p>
            <a:pPr lvl="4"/>
            <a:r>
              <a:rPr lang="en-US" altLang="ko-KR" dirty="0"/>
              <a:t>5th level</a:t>
            </a:r>
            <a:endParaRPr lang="en-US" dirty="0"/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8F262F45-8ED5-4654-BF25-3EF203E0D7B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685088" y="6614880"/>
            <a:ext cx="1458912" cy="249385"/>
          </a:xfrm>
          <a:prstGeom prst="rect">
            <a:avLst/>
          </a:prstGeom>
        </p:spPr>
        <p:txBody>
          <a:bodyPr/>
          <a:lstStyle/>
          <a:p>
            <a:pPr algn="r" defTabSz="457200" latinLnBrk="0"/>
            <a:fld id="{27655F23-C921-6945-88A6-CC79264B7678}" type="slidenum">
              <a:rPr kumimoji="1" lang="ja-JP" altLang="en-US" smtClean="0">
                <a:ln w="3175">
                  <a:solidFill>
                    <a:prstClr val="black">
                      <a:alpha val="4000"/>
                    </a:prstClr>
                  </a:solidFill>
                </a:ln>
              </a:rPr>
              <a:pPr algn="r" defTabSz="457200" latinLnBrk="0"/>
              <a:t>‹#›</a:t>
            </a:fld>
            <a:endParaRPr kumimoji="1" lang="ja-JP" altLang="en-US" dirty="0">
              <a:ln w="3175">
                <a:solidFill>
                  <a:prstClr val="black">
                    <a:alpha val="4000"/>
                  </a:prstClr>
                </a:solidFill>
              </a:ln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5B0A1C-8972-409D-B5EB-A16A5A7D153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 dirty="0">
                <a:solidFill>
                  <a:srgbClr val="595959"/>
                </a:solidFill>
              </a:rPr>
              <a:t>COPYRIGHT© Korea Electronics Technology Institute. All Rights Reserved.</a:t>
            </a:r>
            <a:endParaRPr kumimoji="0" lang="ko-KR" altLang="en-US" sz="700" b="1" dirty="0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84960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A39D4B9-AD4C-4337-A231-B4AA65651C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253" b="12904"/>
          <a:stretch/>
        </p:blipFill>
        <p:spPr>
          <a:xfrm>
            <a:off x="4292231" y="3505333"/>
            <a:ext cx="4851769" cy="336012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CA3FBB9-B80E-454A-9AF7-616E8380A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38206" b="12904"/>
          <a:stretch/>
        </p:blipFill>
        <p:spPr>
          <a:xfrm>
            <a:off x="0" y="0"/>
            <a:ext cx="3232557" cy="3360122"/>
          </a:xfrm>
          <a:prstGeom prst="rect">
            <a:avLst/>
          </a:prstGeom>
        </p:spPr>
      </p:pic>
      <p:sp>
        <p:nvSpPr>
          <p:cNvPr id="23" name="평행 사변형 22">
            <a:extLst>
              <a:ext uri="{FF2B5EF4-FFF2-40B4-BE49-F238E27FC236}">
                <a16:creationId xmlns:a16="http://schemas.microsoft.com/office/drawing/2014/main" id="{8E99BB3F-89FC-4186-9580-57B2BD331EDF}"/>
              </a:ext>
            </a:extLst>
          </p:cNvPr>
          <p:cNvSpPr/>
          <p:nvPr userDrawn="1"/>
        </p:nvSpPr>
        <p:spPr>
          <a:xfrm>
            <a:off x="1460500" y="3464560"/>
            <a:ext cx="7273925" cy="3401431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평행 사변형 23">
            <a:extLst>
              <a:ext uri="{FF2B5EF4-FFF2-40B4-BE49-F238E27FC236}">
                <a16:creationId xmlns:a16="http://schemas.microsoft.com/office/drawing/2014/main" id="{F0E60A63-B814-443B-A086-DF3C034A35B6}"/>
              </a:ext>
            </a:extLst>
          </p:cNvPr>
          <p:cNvSpPr/>
          <p:nvPr userDrawn="1"/>
        </p:nvSpPr>
        <p:spPr>
          <a:xfrm>
            <a:off x="488950" y="2706"/>
            <a:ext cx="5938520" cy="3360122"/>
          </a:xfrm>
          <a:prstGeom prst="parallelogram">
            <a:avLst>
              <a:gd name="adj" fmla="val 81684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33DA29-532F-4F24-94B8-D9B6E6FA28EA}"/>
              </a:ext>
            </a:extLst>
          </p:cNvPr>
          <p:cNvSpPr txBox="1"/>
          <p:nvPr userDrawn="1"/>
        </p:nvSpPr>
        <p:spPr>
          <a:xfrm>
            <a:off x="0" y="2705856"/>
            <a:ext cx="9144000" cy="1446550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 defTabSz="457200" latinLnBrk="0"/>
            <a:r>
              <a:rPr lang="en-US" altLang="ko-KR" sz="8800" b="1" kern="0" spc="-38" dirty="0">
                <a:solidFill>
                  <a:schemeClr val="tx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Thank you</a:t>
            </a:r>
            <a:endParaRPr lang="ko-KR" altLang="en-US" sz="8000" b="1" dirty="0">
              <a:solidFill>
                <a:schemeClr val="tx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A2378C-6F1A-445B-8D70-DCF842B7F21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0638" y="6635750"/>
            <a:ext cx="3900487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1pPr>
            <a:lvl2pPr marL="742950" indent="-28575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2pPr>
            <a:lvl3pPr marL="11430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3pPr>
            <a:lvl4pPr marL="16002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4pPr>
            <a:lvl5pPr marL="2057400" indent="-228600" latinLnBrk="1"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Verdana" panose="020B0604030504040204" pitchFamily="34" charset="0"/>
                <a:ea typeface="HY헤드라인M" panose="02030600000101010101" pitchFamily="18" charset="-127"/>
              </a:defRPr>
            </a:lvl9pPr>
          </a:lstStyle>
          <a:p>
            <a:pPr eaLnBrk="1" latinLnBrk="0" hangingPunct="1">
              <a:defRPr/>
            </a:pPr>
            <a:r>
              <a:rPr kumimoji="0" lang="en-US" altLang="ko-KR" sz="700" b="1">
                <a:solidFill>
                  <a:srgbClr val="595959"/>
                </a:solidFill>
              </a:rPr>
              <a:t>COPYRIGHT© Korea Electronics Technology Institute. All Rights Reserved</a:t>
            </a:r>
            <a:endParaRPr kumimoji="0" lang="ko-KR" altLang="en-US" sz="700" b="1">
              <a:solidFill>
                <a:srgbClr val="59595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434721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모서리가 둥근 직사각형 13"/>
          <p:cNvSpPr/>
          <p:nvPr userDrawn="1"/>
        </p:nvSpPr>
        <p:spPr>
          <a:xfrm>
            <a:off x="2577935" y="346074"/>
            <a:ext cx="4342402" cy="564997"/>
          </a:xfrm>
          <a:custGeom>
            <a:avLst/>
            <a:gdLst>
              <a:gd name="connsiteX0" fmla="*/ 0 w 3733966"/>
              <a:gd name="connsiteY0" fmla="*/ 94168 h 564997"/>
              <a:gd name="connsiteX1" fmla="*/ 94168 w 3733966"/>
              <a:gd name="connsiteY1" fmla="*/ 0 h 564997"/>
              <a:gd name="connsiteX2" fmla="*/ 3639798 w 3733966"/>
              <a:gd name="connsiteY2" fmla="*/ 0 h 564997"/>
              <a:gd name="connsiteX3" fmla="*/ 3733966 w 3733966"/>
              <a:gd name="connsiteY3" fmla="*/ 94168 h 564997"/>
              <a:gd name="connsiteX4" fmla="*/ 3733966 w 3733966"/>
              <a:gd name="connsiteY4" fmla="*/ 470829 h 564997"/>
              <a:gd name="connsiteX5" fmla="*/ 3639798 w 3733966"/>
              <a:gd name="connsiteY5" fmla="*/ 564997 h 564997"/>
              <a:gd name="connsiteX6" fmla="*/ 94168 w 3733966"/>
              <a:gd name="connsiteY6" fmla="*/ 564997 h 564997"/>
              <a:gd name="connsiteX7" fmla="*/ 0 w 3733966"/>
              <a:gd name="connsiteY7" fmla="*/ 470829 h 564997"/>
              <a:gd name="connsiteX8" fmla="*/ 0 w 3733966"/>
              <a:gd name="connsiteY8" fmla="*/ 94168 h 564997"/>
              <a:gd name="connsiteX0" fmla="*/ 0 w 4127666"/>
              <a:gd name="connsiteY0" fmla="*/ 94168 h 564997"/>
              <a:gd name="connsiteX1" fmla="*/ 94168 w 4127666"/>
              <a:gd name="connsiteY1" fmla="*/ 0 h 564997"/>
              <a:gd name="connsiteX2" fmla="*/ 3639798 w 4127666"/>
              <a:gd name="connsiteY2" fmla="*/ 0 h 564997"/>
              <a:gd name="connsiteX3" fmla="*/ 3733966 w 4127666"/>
              <a:gd name="connsiteY3" fmla="*/ 94168 h 564997"/>
              <a:gd name="connsiteX4" fmla="*/ 4127666 w 4127666"/>
              <a:gd name="connsiteY4" fmla="*/ 381929 h 564997"/>
              <a:gd name="connsiteX5" fmla="*/ 3639798 w 4127666"/>
              <a:gd name="connsiteY5" fmla="*/ 564997 h 564997"/>
              <a:gd name="connsiteX6" fmla="*/ 94168 w 4127666"/>
              <a:gd name="connsiteY6" fmla="*/ 564997 h 564997"/>
              <a:gd name="connsiteX7" fmla="*/ 0 w 4127666"/>
              <a:gd name="connsiteY7" fmla="*/ 470829 h 564997"/>
              <a:gd name="connsiteX8" fmla="*/ 0 w 4127666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733966 w 4308014"/>
              <a:gd name="connsiteY3" fmla="*/ 941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08014"/>
              <a:gd name="connsiteY0" fmla="*/ 94168 h 564997"/>
              <a:gd name="connsiteX1" fmla="*/ 94168 w 4308014"/>
              <a:gd name="connsiteY1" fmla="*/ 0 h 564997"/>
              <a:gd name="connsiteX2" fmla="*/ 3639798 w 4308014"/>
              <a:gd name="connsiteY2" fmla="*/ 0 h 564997"/>
              <a:gd name="connsiteX3" fmla="*/ 3803816 w 4308014"/>
              <a:gd name="connsiteY3" fmla="*/ 132268 h 564997"/>
              <a:gd name="connsiteX4" fmla="*/ 4127666 w 4308014"/>
              <a:gd name="connsiteY4" fmla="*/ 381929 h 564997"/>
              <a:gd name="connsiteX5" fmla="*/ 4300198 w 4308014"/>
              <a:gd name="connsiteY5" fmla="*/ 564997 h 564997"/>
              <a:gd name="connsiteX6" fmla="*/ 94168 w 4308014"/>
              <a:gd name="connsiteY6" fmla="*/ 564997 h 564997"/>
              <a:gd name="connsiteX7" fmla="*/ 0 w 4308014"/>
              <a:gd name="connsiteY7" fmla="*/ 470829 h 564997"/>
              <a:gd name="connsiteX8" fmla="*/ 0 w 4308014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94168 h 564997"/>
              <a:gd name="connsiteX1" fmla="*/ 94168 w 4311731"/>
              <a:gd name="connsiteY1" fmla="*/ 0 h 564997"/>
              <a:gd name="connsiteX2" fmla="*/ 3639798 w 4311731"/>
              <a:gd name="connsiteY2" fmla="*/ 0 h 564997"/>
              <a:gd name="connsiteX3" fmla="*/ 3803816 w 4311731"/>
              <a:gd name="connsiteY3" fmla="*/ 132268 h 564997"/>
              <a:gd name="connsiteX4" fmla="*/ 4127666 w 4311731"/>
              <a:gd name="connsiteY4" fmla="*/ 381929 h 564997"/>
              <a:gd name="connsiteX5" fmla="*/ 4300198 w 4311731"/>
              <a:gd name="connsiteY5" fmla="*/ 564997 h 564997"/>
              <a:gd name="connsiteX6" fmla="*/ 94168 w 4311731"/>
              <a:gd name="connsiteY6" fmla="*/ 564997 h 564997"/>
              <a:gd name="connsiteX7" fmla="*/ 0 w 4311731"/>
              <a:gd name="connsiteY7" fmla="*/ 470829 h 564997"/>
              <a:gd name="connsiteX8" fmla="*/ 0 w 4311731"/>
              <a:gd name="connsiteY8" fmla="*/ 94168 h 56499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11731"/>
              <a:gd name="connsiteY0" fmla="*/ 100518 h 571347"/>
              <a:gd name="connsiteX1" fmla="*/ 94168 w 4311731"/>
              <a:gd name="connsiteY1" fmla="*/ 6350 h 571347"/>
              <a:gd name="connsiteX2" fmla="*/ 3538198 w 4311731"/>
              <a:gd name="connsiteY2" fmla="*/ 0 h 571347"/>
              <a:gd name="connsiteX3" fmla="*/ 3803816 w 4311731"/>
              <a:gd name="connsiteY3" fmla="*/ 138618 h 571347"/>
              <a:gd name="connsiteX4" fmla="*/ 4127666 w 4311731"/>
              <a:gd name="connsiteY4" fmla="*/ 388279 h 571347"/>
              <a:gd name="connsiteX5" fmla="*/ 4300198 w 4311731"/>
              <a:gd name="connsiteY5" fmla="*/ 571347 h 571347"/>
              <a:gd name="connsiteX6" fmla="*/ 94168 w 4311731"/>
              <a:gd name="connsiteY6" fmla="*/ 571347 h 571347"/>
              <a:gd name="connsiteX7" fmla="*/ 0 w 4311731"/>
              <a:gd name="connsiteY7" fmla="*/ 477179 h 571347"/>
              <a:gd name="connsiteX8" fmla="*/ 0 w 4311731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53819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80381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100518 h 571347"/>
              <a:gd name="connsiteX1" fmla="*/ 94168 w 4342402"/>
              <a:gd name="connsiteY1" fmla="*/ 6350 h 571347"/>
              <a:gd name="connsiteX2" fmla="*/ 3417548 w 4342402"/>
              <a:gd name="connsiteY2" fmla="*/ 0 h 571347"/>
              <a:gd name="connsiteX3" fmla="*/ 3759366 w 4342402"/>
              <a:gd name="connsiteY3" fmla="*/ 138618 h 571347"/>
              <a:gd name="connsiteX4" fmla="*/ 4127666 w 4342402"/>
              <a:gd name="connsiteY4" fmla="*/ 388279 h 571347"/>
              <a:gd name="connsiteX5" fmla="*/ 4300198 w 4342402"/>
              <a:gd name="connsiteY5" fmla="*/ 571347 h 571347"/>
              <a:gd name="connsiteX6" fmla="*/ 94168 w 4342402"/>
              <a:gd name="connsiteY6" fmla="*/ 571347 h 571347"/>
              <a:gd name="connsiteX7" fmla="*/ 0 w 4342402"/>
              <a:gd name="connsiteY7" fmla="*/ 477179 h 571347"/>
              <a:gd name="connsiteX8" fmla="*/ 0 w 4342402"/>
              <a:gd name="connsiteY8" fmla="*/ 100518 h 57134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  <a:gd name="connsiteX0" fmla="*/ 0 w 4342402"/>
              <a:gd name="connsiteY0" fmla="*/ 94168 h 564997"/>
              <a:gd name="connsiteX1" fmla="*/ 94168 w 4342402"/>
              <a:gd name="connsiteY1" fmla="*/ 0 h 564997"/>
              <a:gd name="connsiteX2" fmla="*/ 3284198 w 4342402"/>
              <a:gd name="connsiteY2" fmla="*/ 0 h 564997"/>
              <a:gd name="connsiteX3" fmla="*/ 3759366 w 4342402"/>
              <a:gd name="connsiteY3" fmla="*/ 132268 h 564997"/>
              <a:gd name="connsiteX4" fmla="*/ 4127666 w 4342402"/>
              <a:gd name="connsiteY4" fmla="*/ 381929 h 564997"/>
              <a:gd name="connsiteX5" fmla="*/ 4300198 w 4342402"/>
              <a:gd name="connsiteY5" fmla="*/ 564997 h 564997"/>
              <a:gd name="connsiteX6" fmla="*/ 94168 w 4342402"/>
              <a:gd name="connsiteY6" fmla="*/ 564997 h 564997"/>
              <a:gd name="connsiteX7" fmla="*/ 0 w 4342402"/>
              <a:gd name="connsiteY7" fmla="*/ 470829 h 564997"/>
              <a:gd name="connsiteX8" fmla="*/ 0 w 4342402"/>
              <a:gd name="connsiteY8" fmla="*/ 94168 h 564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2402" h="564997">
                <a:moveTo>
                  <a:pt x="0" y="94168"/>
                </a:moveTo>
                <a:cubicBezTo>
                  <a:pt x="0" y="42160"/>
                  <a:pt x="42160" y="0"/>
                  <a:pt x="94168" y="0"/>
                </a:cubicBezTo>
                <a:lnTo>
                  <a:pt x="3284198" y="0"/>
                </a:lnTo>
                <a:cubicBezTo>
                  <a:pt x="3494956" y="0"/>
                  <a:pt x="3683166" y="73910"/>
                  <a:pt x="3759366" y="132268"/>
                </a:cubicBezTo>
                <a:cubicBezTo>
                  <a:pt x="3930816" y="257822"/>
                  <a:pt x="4045116" y="377025"/>
                  <a:pt x="4127666" y="381929"/>
                </a:cubicBezTo>
                <a:cubicBezTo>
                  <a:pt x="4407066" y="383137"/>
                  <a:pt x="4352206" y="564997"/>
                  <a:pt x="4300198" y="564997"/>
                </a:cubicBezTo>
                <a:lnTo>
                  <a:pt x="94168" y="564997"/>
                </a:lnTo>
                <a:cubicBezTo>
                  <a:pt x="42160" y="564997"/>
                  <a:pt x="0" y="522837"/>
                  <a:pt x="0" y="470829"/>
                </a:cubicBezTo>
                <a:lnTo>
                  <a:pt x="0" y="94168"/>
                </a:lnTo>
                <a:close/>
              </a:path>
            </a:pathLst>
          </a:custGeom>
          <a:solidFill>
            <a:schemeClr val="bg1">
              <a:alpha val="61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 latinLnBrk="0"/>
            <a:endParaRPr kumimoji="1" lang="ko-KR" altLang="en-US">
              <a:solidFill>
                <a:prstClr val="white"/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-1" y="-27384"/>
            <a:ext cx="7538721" cy="6530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Mater title style</a:t>
            </a:r>
            <a:endParaRPr kumimoji="1" lang="ja-JP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71217"/>
            <a:ext cx="8229600" cy="50549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1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2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3"/>
            <a:r>
              <a:rPr kumimoji="1" lang="en-US" altLang="ko-KR" dirty="0"/>
              <a:t>Edit</a:t>
            </a:r>
            <a:endParaRPr kumimoji="1" lang="ko-KR" altLang="en-US" dirty="0"/>
          </a:p>
          <a:p>
            <a:pPr lvl="4"/>
            <a:r>
              <a:rPr kumimoji="1" lang="en-US" altLang="ko-KR" dirty="0"/>
              <a:t>Edit</a:t>
            </a:r>
            <a:endParaRPr kumimoji="1" lang="ja-JP" altLang="en-US" dirty="0"/>
          </a:p>
        </p:txBody>
      </p:sp>
      <p:sp>
        <p:nvSpPr>
          <p:cNvPr id="38" name="TextBox 37"/>
          <p:cNvSpPr txBox="1"/>
          <p:nvPr userDrawn="1"/>
        </p:nvSpPr>
        <p:spPr>
          <a:xfrm>
            <a:off x="11870" y="-166183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 latinLnBrk="0"/>
            <a:endParaRPr kumimoji="1" lang="ja-JP" altLang="en-US" dirty="0">
              <a:solidFill>
                <a:prstClr val="black"/>
              </a:solidFill>
            </a:endParaRPr>
          </a:p>
        </p:txBody>
      </p:sp>
      <p:sp>
        <p:nvSpPr>
          <p:cNvPr id="2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85505" y="6571751"/>
            <a:ext cx="1458495" cy="2862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kumimoji="1" lang="en-US" altLang="ko-KR" sz="1200" b="1" i="0" kern="1200" smtClean="0">
                <a:ln w="3175">
                  <a:solidFill>
                    <a:prstClr val="black">
                      <a:alpha val="4000"/>
                    </a:prst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Malgun Gothic"/>
              </a:defRPr>
            </a:lvl1pPr>
          </a:lstStyle>
          <a:p>
            <a:pPr defTabSz="457200" latinLnBrk="0"/>
            <a:fld id="{27655F23-C921-6945-88A6-CC79264B7678}" type="slidenum">
              <a:rPr lang="en-US" altLang="ko-KR" smtClean="0"/>
              <a:pPr defTabSz="457200" latinLnBrk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29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673" r:id="rId2"/>
    <p:sldLayoutId id="2147483703" r:id="rId3"/>
    <p:sldLayoutId id="2147483710" r:id="rId4"/>
    <p:sldLayoutId id="2147483711" r:id="rId5"/>
    <p:sldLayoutId id="2147483712" r:id="rId6"/>
    <p:sldLayoutId id="2147483702" r:id="rId7"/>
    <p:sldLayoutId id="2147483675" r:id="rId8"/>
    <p:sldLayoutId id="2147483715" r:id="rId9"/>
    <p:sldLayoutId id="2147483713" r:id="rId10"/>
    <p:sldLayoutId id="2147483714" r:id="rId11"/>
    <p:sldLayoutId id="2147483701" r:id="rId12"/>
  </p:sldLayoutIdLst>
  <p:hf hdr="0" ftr="0" dt="0"/>
  <p:txStyles>
    <p:titleStyle>
      <a:lvl1pPr algn="l" defTabSz="457200" rtl="0" eaLnBrk="1" latinLnBrk="1" hangingPunct="1">
        <a:spcBef>
          <a:spcPct val="0"/>
        </a:spcBef>
        <a:buNone/>
        <a:defRPr kumimoji="1" sz="2800" b="1" kern="1200" spc="0" baseline="0">
          <a:ln w="3175">
            <a:solidFill>
              <a:srgbClr val="12315D">
                <a:alpha val="14000"/>
              </a:srgbClr>
            </a:solidFill>
          </a:ln>
          <a:solidFill>
            <a:schemeClr val="tx1">
              <a:lumMod val="95000"/>
              <a:lumOff val="5000"/>
            </a:schemeClr>
          </a:solidFill>
          <a:latin typeface="Times New Roman" panose="02020603050405020304" pitchFamily="18" charset="0"/>
          <a:ea typeface="맑은 고딕" pitchFamily="50" charset="-127"/>
          <a:cs typeface="Times New Roman" panose="02020603050405020304" pitchFamily="18" charset="0"/>
        </a:defRPr>
      </a:lvl1pPr>
    </p:titleStyle>
    <p:bodyStyle>
      <a:lvl1pPr marL="342900" indent="-342900" algn="l" defTabSz="457200" rtl="0" eaLnBrk="1" latinLnBrk="1" hangingPunct="1">
        <a:lnSpc>
          <a:spcPct val="100000"/>
        </a:lnSpc>
        <a:spcBef>
          <a:spcPts val="600"/>
        </a:spcBef>
        <a:buClr>
          <a:srgbClr val="12315D"/>
        </a:buClr>
        <a:buSzPct val="100000"/>
        <a:buFont typeface="Wingdings" charset="2"/>
        <a:buChar char=""/>
        <a:defRPr kumimoji="1" sz="1600" b="1" kern="1200" spc="0" baseline="0">
          <a:ln w="3175">
            <a:solidFill>
              <a:schemeClr val="tx1">
                <a:alpha val="7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540000" indent="-285750" algn="l" defTabSz="457200" rtl="0" eaLnBrk="1" latinLnBrk="1" hangingPunct="1">
        <a:lnSpc>
          <a:spcPct val="100000"/>
        </a:lnSpc>
        <a:spcBef>
          <a:spcPts val="600"/>
        </a:spcBef>
        <a:buClr>
          <a:srgbClr val="3C3C3B"/>
        </a:buClr>
        <a:buFont typeface="Arial"/>
        <a:buChar char="❍"/>
        <a:defRPr kumimoji="1" sz="14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7488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AppleGothic"/>
        <a:buChar char="▹"/>
        <a:defRPr kumimoji="1" sz="1200" kern="1200" spc="0" baseline="0">
          <a:ln w="3175">
            <a:solidFill>
              <a:schemeClr val="tx1">
                <a:alpha val="5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990000" indent="-228600" algn="l" defTabSz="457200" rtl="0" eaLnBrk="1" latinLnBrk="1" hangingPunct="1">
        <a:lnSpc>
          <a:spcPct val="100000"/>
        </a:lnSpc>
        <a:spcBef>
          <a:spcPts val="600"/>
        </a:spcBef>
        <a:buFont typeface="Arial"/>
        <a:buChar char="▪"/>
        <a:defRPr kumimoji="1" sz="1200" kern="1200" spc="0" baseline="0">
          <a:ln w="3175">
            <a:solidFill>
              <a:schemeClr val="tx1">
                <a:alpha val="9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1231200" indent="-228600" algn="l" defTabSz="457200" rtl="0" eaLnBrk="1" latinLnBrk="1" hangingPunct="1">
        <a:lnSpc>
          <a:spcPct val="100000"/>
        </a:lnSpc>
        <a:spcBef>
          <a:spcPts val="600"/>
        </a:spcBef>
        <a:buClr>
          <a:srgbClr val="800000"/>
        </a:buClr>
        <a:buFont typeface="Wingdings" charset="2"/>
        <a:buChar char="⁃"/>
        <a:defRPr kumimoji="1" sz="1200" kern="1200" spc="0" baseline="0">
          <a:ln w="3175">
            <a:solidFill>
              <a:schemeClr val="tx1">
                <a:alpha val="8000"/>
              </a:schemeClr>
            </a:solidFill>
          </a:ln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Relationship Id="rId2" Type="http://schemas.openxmlformats.org/officeDocument/2006/relationships/image" Target="../media/image4.png"  /><Relationship Id="rId3" Type="http://schemas.openxmlformats.org/officeDocument/2006/relationships/image" Target="../media/image5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Relationship Id="rId2" Type="http://schemas.openxmlformats.org/officeDocument/2006/relationships/image" Target="../media/image6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Relationship Id="rId2" Type="http://schemas.openxmlformats.org/officeDocument/2006/relationships/image" Target="../media/image7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Relationship Id="rId2" Type="http://schemas.openxmlformats.org/officeDocument/2006/relationships/image" Target="../media/image8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Relationship Id="rId2" Type="http://schemas.openxmlformats.org/officeDocument/2006/relationships/image" Target="../media/image9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Relationship Id="rId2" Type="http://schemas.openxmlformats.org/officeDocument/2006/relationships/image" Target="../media/image10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Relationship Id="rId2" Type="http://schemas.openxmlformats.org/officeDocument/2006/relationships/image" Target="../media/image11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8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2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/>
          <p:cNvSpPr txBox="1"/>
          <p:nvPr/>
        </p:nvSpPr>
        <p:spPr>
          <a:xfrm>
            <a:off x="5080" y="1408090"/>
            <a:ext cx="9138920" cy="2172237"/>
          </a:xfrm>
          <a:prstGeom prst="rect">
            <a:avLst/>
          </a:prstGeom>
        </p:spPr>
        <p:txBody>
          <a:bodyPr anchor="ctr"/>
          <a:lstStyle>
            <a:lvl1pPr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4000" b="1" kern="1200" dirty="0">
                <a:solidFill>
                  <a:schemeClr val="bg1"/>
                </a:solidFill>
                <a:latin typeface="Times New Roman"/>
                <a:ea typeface="+mn-ea"/>
                <a:cs typeface="Times New Roman"/>
              </a:defRPr>
            </a:lvl1pPr>
          </a:lstStyle>
          <a:p>
            <a:pPr algn="ctr"/>
            <a:r>
              <a:rPr lang="ko-KR" altLang="en-US" sz="2800" b="1" dirty="0">
                <a:latin typeface="Times New Roman"/>
                <a:ea typeface="+mn-ea"/>
                <a:cs typeface="Times New Roman"/>
              </a:rPr>
              <a:t>제16회 PHM 리더양성을 위한 전문기술 강좌</a:t>
            </a:r>
            <a:br>
              <a:rPr lang="ko-KR" altLang="en-US" sz="2800" b="1" dirty="0">
                <a:latin typeface="Times New Roman"/>
                <a:ea typeface="+mn-ea"/>
                <a:cs typeface="Times New Roman"/>
              </a:rPr>
            </a:br>
            <a:r>
              <a:rPr lang="ko-KR" altLang="en-US" sz="2400" b="1" dirty="0">
                <a:latin typeface="Times New Roman"/>
                <a:ea typeface="+mn-ea"/>
                <a:cs typeface="Times New Roman"/>
              </a:rPr>
              <a:t>수강 정리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5080" y="3636161"/>
            <a:ext cx="914400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latinLnBrk="0">
              <a:defRPr/>
            </a:pPr>
            <a:r>
              <a:rPr lang="ko-KR" altLang="en-US" sz="20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한국전자기술연구원</a:t>
            </a:r>
            <a:endParaRPr lang="ko-KR" altLang="en-US" sz="2000" b="1" kern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080" y="6275386"/>
            <a:ext cx="914400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차세대동력시스템연구센터</a:t>
            </a:r>
          </a:p>
          <a:p>
            <a:pPr lvl="0" latinLnBrk="0">
              <a:defRPr/>
            </a:pPr>
            <a:r>
              <a:rPr lang="ko-KR" altLang="en-US" sz="1600" b="1" kern="0" dirty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김용빈 연구원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-1" y="3577488"/>
            <a:ext cx="914400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latinLnBrk="0">
              <a:defRPr/>
            </a:pPr>
            <a:r>
              <a:rPr lang="en-US" altLang="ko-KR" sz="1600" b="1" kern="0">
                <a:ln w="13500">
                  <a:solidFill>
                    <a:srgbClr val="4F81BD">
                      <a:shade val="2500"/>
                      <a:alpha val="0"/>
                    </a:srgb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/>
                <a:ea typeface="KoPub돋움체 Bold"/>
              </a:rPr>
              <a:t>2026.08.18 ~ 20</a:t>
            </a:r>
            <a:endParaRPr lang="en-US" altLang="ko-KR" sz="1600" b="1" kern="0" dirty="0">
              <a:ln w="13500">
                <a:solidFill>
                  <a:srgbClr val="4F81BD">
                    <a:shade val="2500"/>
                    <a:alpha val="0"/>
                  </a:srgbClr>
                </a:solidFill>
                <a:prstDash val="solid"/>
              </a:ln>
              <a:solidFill>
                <a:schemeClr val="tx1">
                  <a:lumMod val="75000"/>
                  <a:lumOff val="25000"/>
                </a:schemeClr>
              </a:solidFill>
              <a:latin typeface="KoPub돋움체 Bold"/>
              <a:ea typeface="KoPub돋움체 Bold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1일차 · PHM and FMEA for physical AI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Physical AI가 PHM을 필요로 하는 이유 (10:00~11:00)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Physical AI는 닫힌 루프로 물리 세계와 상호작용한다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목표 → 계획 → 인식 → 행동 생성 → 동작 → 피드백 순으로 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루프가 돌기 때문에 고장이 연쇄 전파된다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>
                <a:latin typeface="Times New Roman"/>
                <a:ea typeface="+mn-ea"/>
                <a:cs typeface="Times New Roman"/>
              </a:rPr>
              <a:t> 충돌·낙상·임무 실패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환경이 정형화된 factory가 적용 1순위다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Resilience는 고장 이후에도 기능을 유지하거나 회복하는 능력이다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버티는 것이 아니라 상태를 인식하고 행동을 바꾸는 것이다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상태 인식 → 재계획 → 복구가 다시 하나의 폐루프를 이룬다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PHM은 resilience의 전제 조건이다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PHM이 상태를 알려주고, resilience는 그 정보로 행동을 바꾼다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Sim2real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>
                <a:latin typeface="Times New Roman"/>
                <a:ea typeface="+mn-ea"/>
                <a:cs typeface="Times New Roman"/>
              </a:rPr>
              <a:t> 가상에서 학습하고 domain adaptation으로 실환경에 옮긴다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1일차 · PHM and FMEA for physical AI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RPN으로 진단 우선순위 정하기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366595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FMEA는 고장 모드를 S·O·D 세 축으로 점수화한다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RPN = S × O × D, 값이 큰 항목이 진단 우선순위가 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Detection은 역방향 척도다. 9~10점이 탐지 불가다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Physical AI는 통합 시스템이라 고장 원인을 직관적으로 추적할 수 없다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넘어짐 하나에도 모터·센서·배터리·인지 문제가 모두 후보다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휴머노이드를 네 계통으로 나누자 지능 → 구동 → 컴퓨팅 → 에너지 순이었다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0" name="표 70"/>
          <p:cNvGraphicFramePr>
            <a:graphicFrameLocks noGrp="1"/>
          </p:cNvGraphicFramePr>
          <p:nvPr/>
        </p:nvGraphicFramePr>
        <p:xfrm>
          <a:off x="914400" y="3694176"/>
          <a:ext cx="7315200" cy="2331720"/>
        </p:xfrm>
        <a:graphic>
          <a:graphicData uri="http://schemas.openxmlformats.org/drawingml/2006/table">
            <a:tbl>
              <a:tblPr firstRow="1" firstCol="1" bandRow="1"/>
              <a:tblGrid>
                <a:gridCol w="1600200"/>
                <a:gridCol w="2423160"/>
                <a:gridCol w="548640"/>
                <a:gridCol w="2743200"/>
              </a:tblGrid>
              <a:tr h="32004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계통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대표 고장 모드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RPN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해결 방안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Intelligent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OOD 발생, balance recovery 실패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315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도메인 무작위화, 멀티모달 교차 검증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Actuator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모터 과열·감속기 손상, 윤활유 열화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288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실시간 상태 진단, RUL 예측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Onboard Computing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thermal throttling, 추론 지연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240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센서 기반 모니터링, knowledge distillation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Energy Systems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과충·과방전, 내부저항 증가, 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225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SOC/SOH 추정, 열폭주 선제 조치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1일차 · Agentic AI 기초와 공학 적용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MCP 기반 FreeCAD FEM 수행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6683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실습은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claude</a:t>
            </a:r>
            <a:r>
              <a:rPr lang="ko-KR" altLang="en-US">
                <a:latin typeface="Times New Roman"/>
                <a:ea typeface="+mn-ea"/>
                <a:cs typeface="Times New Roman"/>
              </a:rPr>
              <a:t>를 통한 외팔보 해석 지시 및 이론값과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agent</a:t>
            </a:r>
            <a:r>
              <a:rPr lang="ko-KR" altLang="en-US">
                <a:latin typeface="Times New Roman"/>
                <a:ea typeface="+mn-ea"/>
                <a:cs typeface="Times New Roman"/>
              </a:rPr>
              <a:t> 도출값 비교까지 진행했다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.</a:t>
            </a:r>
            <a:endParaRPr lang="en-US" altLang="ko-KR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외팔보 처짐 δ = PL³/3EI, 하중 0~100 N을 20 N 간격으로</a:t>
            </a:r>
            <a:r>
              <a:rPr lang="ko-KR" altLang="en-US">
                <a:latin typeface="Times New Roman"/>
                <a:ea typeface="+mn-ea"/>
                <a:cs typeface="Times New Roman"/>
              </a:rPr>
              <a:t> 진행했다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.</a:t>
            </a:r>
            <a:endParaRPr lang="en-US" altLang="ko-KR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CLAUDE.md가 결과의 재현성을 만들었다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도구가 없으면 agent는 작업 수행을 할 수 없다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.</a:t>
            </a:r>
            <a:endParaRPr lang="en-US" altLang="ko-KR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"FreeCAD를 실시간 제어할 수 있나" - 도구가 없어 불가했다.</a:t>
            </a:r>
            <a:endParaRPr lang="en-US" altLang="ko-KR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en-US" altLang="ko-KR">
                <a:latin typeface="Times New Roman"/>
                <a:ea typeface="+mn-ea"/>
                <a:cs typeface="Times New Roman"/>
              </a:rPr>
              <a:t>MCP Bridge 연결 후 형상 → hex 2차 요소 메쉬 → 경계조건 → solve</a:t>
            </a:r>
            <a:endParaRPr lang="en-US" altLang="ko-KR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06597" y="3995928"/>
            <a:ext cx="3881628" cy="2587752"/>
          </a:xfrm>
          <a:prstGeom prst="rect">
            <a:avLst/>
          </a:prstGeom>
        </p:spPr>
      </p:pic>
      <p:pic>
        <p:nvPicPr>
          <p:cNvPr id="6" name="Image 0" descr="preencoded.pn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579665" y="3995928"/>
            <a:ext cx="3957738" cy="25877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1일차 · VLA 기반 협동로봇 작업 수행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정책 하나로 여러 작업, 그러나 데이터가 병목이다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로봇 학습의 패러다임이 세 단계로 이동했다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Engineer everything은 보상을 사람이 설계해 환경이 바뀌면 깨진다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Learn from demos는 전문가 시연을 모방한다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One model, Any Task는 정책 하나로 여러 작업을 하되 데이터가 병목이다</a:t>
            </a:r>
          </a:p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생성 모델은 확률 모델이라 같은 명령에도 결과가 달라진다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AE는 압축·복원이라 생성 모델이 아니고, VAE는 정규분포화했으나 흐리다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GAN은 선명하나 판별자만 속이면 되어 mode collapse가 생긴다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Diffusion은 노이즈를 씌웠다가 역순으로 제거하며 생성한다</a:t>
            </a:r>
          </a:p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학습은 가상에서, 수행은 실환경에서 하므로 sim2real 갭이 남는다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Visual gap은 외관·조명·재질, Dynamic gap은 접촉·마찰·관성이다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관절 제어값에 정답이 없어 PHM 관점의 적용은 아직 어렵다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시뮬레이션과 합성 데이터가 데이터 병목을 푸는 가장 유력한 길이다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정상 데이터만으로 이상을 잡는다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산업 AI의 한계는 모델이 아니라 데이터 분포 변화다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제조 데이터의 불확실성은 도메인 지식으로 줄인다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외부 환경·운용 조건·센서·제어·동역학·운영 6단계로 계층화한다</a:t>
            </a:r>
          </a:p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사례는 와이어 하네스 압착 공정이다 (CFM, Crimp Force Monitoring)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수동 설정값 의존이 커서 불량을 과도하게 진단한다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정상 데이터만으로 학습한 AE의 복원오차로 이상을 탐지한다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실습은 10AWG·24AWG 두 굵기의 압착 파형을 대상으로 했다</a:t>
            </a:r>
          </a:p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숙련자의 정상 데이터인데도 작업이 누적될수록 복원오차가 증가한다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이것이 다음 장에서 다룰 data drift 다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1일차 · 제조 설비 데이터 특성과 상태진단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드리프트가 만드는 오경보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학습된 AE의 기준은 재학습 외에 변경할 수 없다.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측정값에서 추정 drift를 빼되 임계값 이하일 때만 갱신한다.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드리프트의 크기와 증가율 자체를 열화 지표로 쓰기도 한다.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5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651760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발열원은 철·구리·자석, 병목은 분야마다 다르다 (9:00~11:00)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40901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PMSM의 철·구리·자석은 주 발열원이면서 하나의 자기회로다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기자력 요소는 자석·전기자 권선, 자기저항 요소는 공극·자석·전기강판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전기자동차는 고전압화와 고속화로 고출력을 얻는다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헤어핀 각선(bar winding)으로 점적률을 올려 저항과 발열을 낮춘다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2-stage 인버터는 저속 CEW 고효율 모드와 고속 OEW 고출력 모드를 절환한다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ribless 회전자에 카본 슬리브를, BYD는 고장력 강판을 적용했다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로봇 액추에이터는 고토크밀도 구현에 따른 열관리가 병목이다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0 rpm 고토크 반복이라 권선 발열이 전체의 대부분이다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모터와 감속기 최적화, 관절별 액추에이터 공용화가 동향이다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72" name="표 72"/>
          <p:cNvGraphicFramePr>
            <a:graphicFrameLocks noGrp="1"/>
          </p:cNvGraphicFramePr>
          <p:nvPr/>
        </p:nvGraphicFramePr>
        <p:xfrm>
          <a:off x="914400" y="4736592"/>
          <a:ext cx="7315200" cy="1828800"/>
        </p:xfrm>
        <a:graphic>
          <a:graphicData uri="http://schemas.openxmlformats.org/drawingml/2006/table">
            <a:tbl>
              <a:tblPr firstRow="1" firstCol="1" bandRow="1"/>
              <a:tblGrid>
                <a:gridCol w="2011680"/>
                <a:gridCol w="2560320"/>
                <a:gridCol w="2743200"/>
              </a:tblGrid>
              <a:tr h="32004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응용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운전 특성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열관리 병목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전기자동차 (IPM)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고전압·고속, 피크 듀티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냉각수 재킷 + 오일 직접냉각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생활가전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제품별 상이 - 세탁기·팬·컴프레서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원가 제약 하의 신소재·공법 개발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로봇 액추에이터 (SPM)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0 rpm 고토크 반복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전폐형 구조로 열전달 경로 열악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히스테리시스 면적이 곧 철손이다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자성재료는 반자성·상자성·강자성으로 나뉜다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강자성체는 자석 같은 경자성체와 철 같은 연자성체로 갈린다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투자율이 자기저항을 정한다. 자기저항은 공기·자석·구리가 크고 전기강판이 작다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전기강판은 투자율이 높고 철손이 작도록 만든 강판이다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얇게 적층해 단면적을 줄이면 와전류 손실이 감소한다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자기저항 증가와 철손 감소는 서로 trade-off다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전류가 커져 자기 포화에 들면 투자율이 떨어져 자속 증가율이 둔해진다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B-H 곡선의 히스테리시스 면적이 곧 열손실이다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전류를 0으로 되돌려도 잔류 자화가 남아 실제 면적이 더 크다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전류 증가 → 자속밀도 상승 → 루프 면적 증가 → 철손 증가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철손은 주파수와 자속밀도에 비례한다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Knee point 아래로 내려가면 되돌릴 수 없다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099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영구자석은 코일을 대체해 기자력을 만든다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감자에는 되돌아오는 것과 되돌아오지 않는 것이 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동작점이 Knee point 아래로 내려가면 불가역 감자가 발생한다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원인은 자석 온도 상승·전기자 반작용·퍼미언스 계수 변화 셋이다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자석이 감자되지 않고 구리가 타지 않는 것이 열관리의 핵심이다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8" name="그림 9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86560" y="3337560"/>
            <a:ext cx="5770880" cy="32461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전류 한계선이 곧 열 한계선이다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982547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토크는 마그네틱과 릴럭턴스 토크로 생기며 d·q 축으로 배분한다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MTPA는 같은 전류로 최대 토크를 내 동손과 권선 온도를 낮춘다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전류 한계선이 곧 열 한계선이다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동손은 전기자 권선에서 나며 전류 제곱이라 고토크를 지배한다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철손·기계손·자석 와전류손은 전기강판과 회전자에서 나며 고속에서 커진다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62176" y="3310128"/>
            <a:ext cx="5819648" cy="32735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2일차 · 모터 응용 분야별 열관리 기법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열을 빼내지 못하면 절연이 깨진다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간접냉각은 권선 → 고정자 → 하우징 → 냉각수로 열을 옮긴다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냉각수는 전도체라 권선에 직접 분사할 수 없다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냉각 성능과 냉각채널 차압을 함께 본 cooling jacket 설계가 필요하다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로터리 조인트로 샤프트를 간접냉각해 자석의 감자 강건성을 확보한다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직접냉각은 ATF-오일·절연유를 발열원에 직접 접촉시킨다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권선 직접냉각과 동시에 베어링·감속기 윤활을 겸한다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중공 도체와 슬롯 내 열교환기를 적층 제조해 발열량을 낮춘다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모터·인버터 발열로 배터리를 승온해 별도 히터를 없앤다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로봇 액추에이터는 전폐형이라 열전달 경로가 열악하다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권선 → 하우징 → 링크 → 외기가 유일한 경로다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고정자 Potting으로 방열 면적을 늘린다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핫스팟이 한계 온도에 닿으면 절연파괴로 액추에이터가 고장난다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2일차 · 모터 베어링 진단을 위한 기초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필터링만으로는 결함 주파수가 안 보인다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모터 고장은 통계상 대부분 베어링과 고정자에서 발생한다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상태진단 물리량은 진동·전류·온도·음향 넷이다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전류는 신호처리 관점에서 진동과 매우 유사하다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진동은 기계적 결함에, 전류(MCSA)는 회전자·전기적 결함에 민감하다</a:t>
            </a:r>
          </a:p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진동은 힘이 가해져야만 생기며 주기·충격·랜덤 가진으로 나뉜다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진동계는 질량 m, 감쇠 c, 강성 k로 기술된다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진폭·주파수·위상 셋으로 표현한다</a:t>
            </a:r>
          </a:p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계측 신호는 이산이라 DFT를, 속도를 위해 FFT를 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해상도 Δf = 1/T, 최대 주파수는 샘플링의 절반이라 길고 조밀하게 잰다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Butterworth·Chebyshev로 필터링하되 order가 높으면 왜곡이 생긴다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필터링한 시간 파형에는 충격이 보이나 결함 주파수는 안 잡힌다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2일차 · 모터 베어링 진단을 위한 기초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포락선이 결함 주파수를 드러낸다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132417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필터링은 반송파를 고르는 일, 포락선은 그것을 버리는 일이다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Hilbert 변환으로 위상을 90° 돌려 해석적 신호를 만든다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결함 주기는 BPFI·BPFO·BSF로 갈리며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BPFI</a:t>
            </a:r>
            <a:r>
              <a:rPr lang="ko-KR" altLang="en-US">
                <a:latin typeface="Times New Roman"/>
                <a:ea typeface="+mn-ea"/>
                <a:cs typeface="Times New Roman"/>
              </a:rPr>
              <a:t>가 가장 짧다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7" name="그림 9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76960" y="2651760"/>
            <a:ext cx="6990080" cy="393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2일차 · 감속기 진단을 위한 신호처리 기법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정상 성분을 지우고 이상 성분만 본다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감속기는 전달오차의 변동 폭을 줄이는 것이 설계의 핵심이다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이 하나가 물다가 둘이 물면 강성이 바뀌고 그 폭이 반복된다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백래시는 부드러운 회전에 필요하나 위치 정밀도에는 치명적이다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Planet·Cycloidal·RV 구조로 최소 백래시와 고감속을 얻는다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결함은 분포 결함과 국부 결함으로 나뉜다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분포 결함은 전달오차·백래시가 커져 진폭이 전반적으로 오른다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같은 운전에 필요한 하중이 변해 전력과 미세 전류에도 드러난다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국부 결함은 맞물림 주기마다 간헐적 충격성 진동을 낸다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로봇은 가감속 반복이라 비정상 신호다. 각도축으로 바꿔야 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엔코더로 각도를 재 등간격 각도로 리샘플링하면 정상 신호가 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TSA는 대상 기어 회전별로 잘라 평균해 노이즈를 없앤다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Residual은 정상 물림을, difference는 sideband까지 지운다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2일차 · 배터리 SOC/SOH 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전류적산의 초기 오차를 무엇으로 잡는가 (16:00~18:00)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BMS는 SOC·SOH·온도로 출력을 조절해 과출력과 저출력을 막는다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출력 전압은 OCV·전류·SOC·SOH·온도의 함수다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과충전·과방전은 열폭주로 이어질 수 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정격 전압은 OCV로 결정된다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직접 산출·측정 방식은 각각 다른 한계를 갖는다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전류적산법은 SOC를 직접 산출하지만 초기 오차가 남는다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용량은 0.2 C 3사이클 방전 용량 평균이며 측정에 3~4일 걸린다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OCV 기반은 간단하나 휴지 시간이 길고 LFP에서 오차가 크다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칼만 필터는 모델 예측과 측정을 비교하며 실시간 보정한다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ECM은 입력 전류, 출력 전압, 파라미터 R·C·OCV로 구성된다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EKF는 자코비안으로 비선형 시스템을 선형화한다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모델을 잘못 설계하면 오차가 줄지 않는 것이 단점이다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2일차 · 배터리 SOC/SOH 실전 가이드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용량 기준인가 저항 기준인가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SOH는 리튬이온 배터리의 열화 상태를 나타내는 지표다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잔여 용량 기준은 초기 용량 대비 현재 최대 충방전 용량 비율이다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내부 저항 기준은 초기 저항 대비 현재 저항 비율이다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SOH를 말할 때 어느 기준인지 먼저 확인해야 한다</a:t>
            </a:r>
          </a:p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EOL은 설계된 성능과 안정성을 더 못 내는 시점이다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용량 기준으로는 초기 용량의 80% 이하로 떨어진 때다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저항 기준으로는 내부 저항이 초기의 2배가 된 때다</a:t>
            </a:r>
          </a:p>
          <a:p>
            <a:pPr lvl="1"/>
            <a:r>
              <a:rPr lang="ko-KR" altLang="en-US" dirty="0">
                <a:latin typeface="Times New Roman"/>
                <a:ea typeface="+mn-ea"/>
                <a:cs typeface="Times New Roman"/>
              </a:rPr>
              <a:t>직접 추정은 정확하나 오프라인이고, 간접 추정은 온라인이다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직접은 완충-완방 용량 측정, 펄스 테스트, 임피던스 분광법이다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간접은 모델 기반 ECM과 데이터 기반으로 갈린다</a:t>
            </a:r>
          </a:p>
          <a:p>
            <a:pPr lvl="2"/>
            <a:r>
              <a:rPr lang="ko-KR" altLang="en-US" dirty="0">
                <a:latin typeface="Times New Roman"/>
                <a:ea typeface="+mn-ea"/>
                <a:cs typeface="Times New Roman"/>
              </a:rPr>
              <a:t>데이터가 적으면 GPR, 복잡한 열화 패턴이면 딥러닝을 쓴다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3일차 · 반도체 패키징 열-기계 PHM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감지는 되는데 위치는 못 짚는다 (9:00~11:00)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온도가 10 °C 오르면 수명이 절반이라 열 측정이 곧 신뢰성 평가다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과도 열응답을 층별 열저항 지도로 바꾸는 것이 구조함수다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접합부 온도는 PN 접합 전압으로 재고 그 과도 응답이 Zth다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감지의 한계와 위치 추정의 한계는 서로 다르다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저열화·고잡음이거나 열저항이 작은 층은 분기가 묻힌다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6" name="그림 9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3일차 · 전력반도체 열화 감시 회로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전압을 못 믿으면 전류를 본다 (11:00~13:00)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전력반도체 PHM은 감지 단계에 집중해야 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다층 열팽창계수 불일치가 전력 사이클 피로를 만들고 열저항 증가로 나타난다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정적 지표는 온 상태 저항과 게이트 누설 전류, 동적 지표는 스위칭 천이다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TSEP은 PN 접합 forward voltage의 k-factor로 센서 없이 온도를 추정한다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온 상태 전압은 스위칭·공통모드 노이즈에 취약하다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절대값 대신 상대 증가량을 보면 전류 정보만으로 추정된다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보조회로 인덕터 전류의 시상수 변화로 온라인 추정한다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등가회로 특성이 소자 종류와 on/off에 무관해 범용으로 쓸 수 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게이트 누설 전류는 절연체 균열로 게이트 저항이 유한해지며 증가한다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매우 작아 적분해 펄스로 바꾸면 고성능 ADC가 필요 없다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duty cycle 의존이 한계이며 보정이 필요하다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drift region을 얇게 하면 효율은 오르나 기계적 안정성이 내려간다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r>
              <a:rPr lang="ko-KR" altLang="en-US" sz="2800" dirty="0">
                <a:latin typeface="Times New Roman"/>
                <a:ea typeface="+mn-ea"/>
                <a:cs typeface="Times New Roman"/>
              </a:rPr>
              <a:t>3일차 · 다중물리·AI 반도체 패키지 진단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r>
              <a:rPr lang="ko-KR" altLang="en-US" sz="2000" dirty="0">
                <a:latin typeface="Times New Roman"/>
                <a:ea typeface="+mn-ea"/>
                <a:cs typeface="Times New Roman"/>
              </a:rPr>
              <a:t>하나의 값 추이로는 원인을 가릴 수 없다 (14:00~16:00)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546171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접합부는 반복 하중으로 피로가, 화학물질로 부식이 쌓인다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겉이 멀쩡해도 내부에서 부식이 진행된다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결함이 있으면 동작 주파수가 높을수록 신호 저하가 커진다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부식이 70 %까지 가도 DC 저항은 0.60 → 0.65 Ω 로 거의 안 변한다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단일 파라미터로는 성능 예측·진행 추적·원인 규명을 다 못 준다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DC 저항에서 RF 임피던스, eye diagram까지 왔으나 한계가 같다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고장인지 환경 변화인지 가릴 수 없고 노이즈·공진에 취약하다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S-파라미터 패턴은 임피던스·저항·용량을 한 번에 담는다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패턴은 열화의 진행까지 추적한다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온도가 오르면 열팽창으로 형상이 변해 S21의 인덕턴스가 달라진다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열 요소를 넣은 SPICE 모델은 실험값과 0.05 dB 이내로 맞는다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본드 힐 균열은 3,878주기에 공진 피크로 잡혀 저주파로 이동한다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3일차 · 다중물리·AI 반도체 패키지 진단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모델보다 물리적 이해가 먼저다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05569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원인과 심각도가 다르면 S-파라미터 패턴도 다르게 나타난다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Cu 시편은 t-SNE에서, 그림의 ITO 시편은 곡선에서 원인별로 갈린다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모델보다 데이터에 대한 물리적 이해가 먼저다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부식 정량화는 21개 모델 중 기본 선형 회귀가 가장 좋았다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S-파라미터만으로 부식을 비침습 시각화할 수 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pic>
        <p:nvPicPr>
          <p:cNvPr id="95" name="그림 9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27200" y="3383280"/>
            <a:ext cx="5689600" cy="3200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관통 주제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결국 열관리와 열설계로 수렴한다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2421459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열은 모터·배터리·반도체를 관통하는 공통 고장 인자다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출력을 올리는 길은 어디서나 열에서 먼저 막힌다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정작 죽이는 지점은 대개 계측이 불가능하다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권선 핫스팟도 칩 접합부 온도도 직접 잴 수 없다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못 재는 것을 무엇으로 대신하느냐가 이 분야의 실제 문제다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단일 값은 한 번씩 다 실패했고, 패턴이나 지도로 바꿔야 보였다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  <p:graphicFrame>
        <p:nvGraphicFramePr>
          <p:cNvPr id="80" name="표 80"/>
          <p:cNvGraphicFramePr>
            <a:graphicFrameLocks noGrp="1"/>
          </p:cNvGraphicFramePr>
          <p:nvPr/>
        </p:nvGraphicFramePr>
        <p:xfrm>
          <a:off x="548640" y="3749040"/>
          <a:ext cx="8046720" cy="2834640"/>
        </p:xfrm>
        <a:graphic>
          <a:graphicData uri="http://schemas.openxmlformats.org/drawingml/2006/table">
            <a:tbl>
              <a:tblPr firstRow="1" firstCol="1" bandRow="1"/>
              <a:tblGrid>
                <a:gridCol w="1737360"/>
                <a:gridCol w="2103120"/>
                <a:gridCol w="1549895"/>
                <a:gridCol w="2656345"/>
              </a:tblGrid>
              <a:tr h="32004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분야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죽이는 열 인자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무엇을 재나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무엇으로 대신하나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모터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권선 핫스팟, 자석 감자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냉각수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 하우징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냉각 구조로 미룬다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로봇 액추에이터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권선 핫스팟, 전폐형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케이스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전도 경로 설계와 Potting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배터리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열폭주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BMS가 SOC·SOH로 출력을 조절한다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반도체 패키징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과도 열응답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구조함수로 층 위치를 역추적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 b="1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전력반도체</a:t>
                      </a:r>
                      <a:endParaRPr lang="ko-KR" altLang="en-US" sz="1100" b="1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접합부 온도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온 상태 전압</a:t>
                      </a:r>
                      <a:r>
                        <a:rPr lang="en-US" altLang="ko-KR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,</a:t>
                      </a: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 전류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vert="horz" lIns="45720" tIns="27432" rIns="45720" bIns="27432" anchor="ctr" anchorCtr="0"/>
                    <a:p>
                      <a:pPr lvl="0" algn="ctr">
                        <a:defRPr/>
                      </a:pPr>
                      <a:r>
                        <a:rPr lang="ko-KR" altLang="en-US" sz="1100">
                          <a:solidFill>
                            <a:srgbClr val="101010"/>
                          </a:solidFill>
                          <a:latin typeface="Times New Roman"/>
                          <a:ea typeface="+mn-ea"/>
                          <a:cs typeface="Times New Roman"/>
                        </a:rPr>
                        <a:t>상대 증가량으로 열화량을 본다</a:t>
                      </a:r>
                      <a:endParaRPr lang="ko-KR" altLang="en-US" sz="1100">
                        <a:solidFill>
                          <a:srgbClr val="101010"/>
                        </a:solidFill>
                        <a:latin typeface="Times New Roman"/>
                        <a:ea typeface="+mn-ea"/>
                        <a:cs typeface="Times New Roman"/>
                      </a:endParaRP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173979" y="0"/>
            <a:ext cx="8533292" cy="649224"/>
          </a:xfrm>
        </p:spPr>
        <p:txBody>
          <a:bodyPr/>
          <a:lstStyle/>
          <a:p>
            <a:pPr lvl="0">
              <a:defRPr/>
            </a:pPr>
            <a:r>
              <a:rPr lang="ko-KR" altLang="en-US" sz="2800">
                <a:latin typeface="Times New Roman"/>
                <a:ea typeface="+mn-ea"/>
                <a:cs typeface="Times New Roman"/>
              </a:rPr>
              <a:t>적용 계획</a:t>
            </a:r>
            <a:endParaRPr lang="ko-KR" altLang="en-US" sz="28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idx="14"/>
          </p:nvPr>
        </p:nvSpPr>
        <p:spPr>
          <a:xfrm>
            <a:off x="173979" y="813816"/>
            <a:ext cx="8533292" cy="429768"/>
          </a:xfrm>
        </p:spPr>
        <p:txBody>
          <a:bodyPr/>
          <a:lstStyle/>
          <a:p>
            <a:pPr lvl="0">
              <a:defRPr/>
            </a:pPr>
            <a:r>
              <a:rPr lang="ko-KR" altLang="en-US" sz="2000">
                <a:latin typeface="Times New Roman"/>
                <a:ea typeface="+mn-ea"/>
                <a:cs typeface="Times New Roman"/>
              </a:rPr>
              <a:t>강좌에서 무엇을 가져와 어디에 쓸 것인가</a:t>
            </a:r>
            <a:endParaRPr lang="ko-KR" altLang="en-US" sz="2000"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173979" y="1236141"/>
            <a:ext cx="8533292" cy="3946550"/>
          </a:xfrm>
        </p:spPr>
        <p:txBody>
          <a:bodyPr>
            <a:noAutofit/>
          </a:bodyPr>
          <a:lstStyle/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유망사업 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-</a:t>
            </a:r>
            <a:r>
              <a:rPr lang="ko-KR" altLang="en-US">
                <a:latin typeface="Times New Roman"/>
                <a:ea typeface="+mn-ea"/>
                <a:cs typeface="Times New Roman"/>
              </a:rPr>
              <a:t> 미지 전동력기기의 제로샷 자율화 (SDx 동력 파운데이션 모델)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사전학습의 도메인 랜덤화 범위를 부하·고장 조건까지 넓힌다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전류에 실리는 결함 유형을 가려 자가진단 대상을 확정한다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기준값이 없으므로 절대값 대신 상대 증가량을 지표로 삼는다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IE4 데이터 - 받는 채널을 늘려 볼 수 있는 고장을 넓힌다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전류·온도 데이터가 제공되는지 확인하고 파싱 대상에 넣는다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전류에 같은 신호처리를 걸어 회전자 결함이 잡히는지 본다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가능하다면</a:t>
            </a:r>
            <a:r>
              <a:rPr lang="en-US" altLang="ko-KR">
                <a:latin typeface="Times New Roman"/>
                <a:ea typeface="+mn-ea"/>
                <a:cs typeface="Times New Roman"/>
              </a:rPr>
              <a:t>,</a:t>
            </a:r>
            <a:r>
              <a:rPr lang="ko-KR" altLang="en-US">
                <a:latin typeface="Times New Roman"/>
                <a:ea typeface="+mn-ea"/>
                <a:cs typeface="Times New Roman"/>
              </a:rPr>
              <a:t> 동손·철손 중 어느 손실이 온도를 올려서 성능에 영향을 주는지 분석한다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1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MCP 기반 자동화 - 만드는 과정이 재현될 때만 쓸 수 있다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CLAUDE.md와 MCP로 결정론적 작업을 코드에, 판단만 에이전트에 맡긴다</a:t>
            </a:r>
            <a:endParaRPr lang="ko-KR" altLang="en-US">
              <a:latin typeface="Times New Roman"/>
              <a:ea typeface="+mn-ea"/>
              <a:cs typeface="Times New Roman"/>
            </a:endParaRPr>
          </a:p>
          <a:p>
            <a:pPr lvl="2">
              <a:defRPr/>
            </a:pPr>
            <a:r>
              <a:rPr lang="ko-KR" altLang="en-US">
                <a:latin typeface="Times New Roman"/>
                <a:ea typeface="+mn-ea"/>
                <a:cs typeface="Times New Roman"/>
              </a:rPr>
              <a:t>에이전트가 산출한 값과 이론 값을 비교하여 오차 정도를 분석한다</a:t>
            </a:r>
            <a:endParaRPr lang="ko-KR" altLang="en-US">
              <a:latin typeface="Times New Roman"/>
              <a:ea typeface="+mn-ea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14B569-FDD7-4F69-AC2D-0543B60ABDF3}"/>
              </a:ext>
            </a:extLst>
          </p:cNvPr>
          <p:cNvSpPr txBox="1"/>
          <p:nvPr/>
        </p:nvSpPr>
        <p:spPr>
          <a:xfrm>
            <a:off x="2032000" y="4257040"/>
            <a:ext cx="500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기업과 함께 성장하는 최고의 파트너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EF21BE-8EB8-4484-A6E9-8C5E06312AC5}"/>
              </a:ext>
            </a:extLst>
          </p:cNvPr>
          <p:cNvSpPr txBox="1"/>
          <p:nvPr/>
        </p:nvSpPr>
        <p:spPr>
          <a:xfrm>
            <a:off x="1807210" y="4590400"/>
            <a:ext cx="5504180" cy="4690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/>
              <a:t>전자</a:t>
            </a:r>
            <a:r>
              <a:rPr lang="ko-KR" altLang="en-US" sz="24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∙</a:t>
            </a:r>
            <a:r>
              <a:rPr lang="en-US" altLang="ko-KR" sz="24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IT</a:t>
            </a:r>
            <a:r>
              <a:rPr lang="ko-KR" altLang="en-US" sz="24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분야 글로벌 전문생산연구기관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165861356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4_Hanyang_CNR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NR_HYU">
      <a:majorFont>
        <a:latin typeface="Arial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1741</ep:Words>
  <ep:PresentationFormat>화면 슬라이드 쇼(4:3)</ep:PresentationFormat>
  <ep:Paragraphs>239</ep:Paragraphs>
  <ep:Slides>24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ep:HeadingPairs>
  <ep:TitlesOfParts>
    <vt:vector size="25" baseType="lpstr">
      <vt:lpstr>4_Hanyang_CNR Template</vt:lpstr>
      <vt:lpstr>슬라이드 1</vt:lpstr>
      <vt:lpstr>1일차 · PHM and FMEA for physical AI</vt:lpstr>
      <vt:lpstr>1일차 · PHM and FMEA for physical AI</vt:lpstr>
      <vt:lpstr>1일차 · Agentic AI 기초와 공학 적용</vt:lpstr>
      <vt:lpstr>1일차 · VLA 기반 협동로봇 작업 수행</vt:lpstr>
      <vt:lpstr>1일차 · 제조 설비 데이터 특성과 상태진단</vt:lpstr>
      <vt:lpstr>1일차 · 제조 설비 데이터 특성과 상태진단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응용 분야별 열관리 기법</vt:lpstr>
      <vt:lpstr>2일차 · 모터 베어링 진단을 위한 기초</vt:lpstr>
      <vt:lpstr>2일차 · 모터 베어링 진단을 위한 기초</vt:lpstr>
      <vt:lpstr>2일차 · 감속기 진단을 위한 신호처리 기법</vt:lpstr>
      <vt:lpstr>2일차 · 배터리 SOC/SOH 실전 가이드</vt:lpstr>
      <vt:lpstr>2일차 · 배터리 SOC/SOH 실전 가이드</vt:lpstr>
      <vt:lpstr>3일차 · 반도체 패키징 열-기계 PHM</vt:lpstr>
      <vt:lpstr>3일차 · 전력반도체 열화 감시 회로</vt:lpstr>
      <vt:lpstr>3일차 · 다중물리·AI 반도체 패키지 진단</vt:lpstr>
      <vt:lpstr>3일차 · 다중물리·AI 반도체 패키지 진단</vt:lpstr>
      <vt:lpstr>관통 주제</vt:lpstr>
      <vt:lpstr>적용 계획</vt:lpstr>
      <vt:lpstr>슬라이드 24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2020-02-07T05:42:17.000</dcterms:created>
  <dc:creator>user</dc:creator>
  <cp:lastModifiedBy>ASUS</cp:lastModifiedBy>
  <dcterms:modified xsi:type="dcterms:W3CDTF">2026-08-23T07:54:01.942</dcterms:modified>
  <cp:revision>1130</cp:revision>
  <dc:title>하모닉 감속기의 중공경 확대/박형화/경량화 및 성능 예측/관리가 가능한 설계/제조 기술 개발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